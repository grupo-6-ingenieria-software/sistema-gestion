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77DB09-FA7A-442D-8AC8-FDB2E9C0EDD6}">
  <a:tblStyle styleId="{2C77DB09-FA7A-442D-8AC8-FDB2E9C0ED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F9AD55-0411-4619-B6F1-B6D857C0155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606b9a19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g3d9606b9a19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d9606b9a19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013bb4098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e013bb4098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013bb4098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64722d671_0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e64722d671_0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e64722d671_0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64722d671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e64722d671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64722d671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013bb4098_0_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e013bb4098_0_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013bb4098_0_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013bb4098_0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e013bb4098_0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013bb4098_0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77f20532d_1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g3977f20532d_1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977f20532d_1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77f20532d_1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3977f20532d_1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977f20532d_1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013bb4098_0_1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e013bb4098_0_1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e013bb4098_0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013bb4098_0_2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e013bb4098_0_2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013bb4098_0_2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013bb4098_0_3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g3e013bb4098_0_3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013bb4098_0_3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77f20532d_1_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g3977f20532d_1_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977f20532d_1_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77f20532d_1_1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977f20532d_1_1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977f20532d_1_1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9606b9a19_0_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g3d9606b9a19_0_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d9606b9a19_0_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77f20532d_1_1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g3977f20532d_1_1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977f20532d_1_1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5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25603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7A8B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Facultad de Ingeniería  |  Ingeniería de Software I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3"/>
          <p:cNvCxnSpPr/>
          <p:nvPr/>
        </p:nvCxnSpPr>
        <p:spPr>
          <a:xfrm>
            <a:off x="914400" y="621792"/>
            <a:ext cx="7315200" cy="0"/>
          </a:xfrm>
          <a:prstGeom prst="straightConnector1">
            <a:avLst/>
          </a:prstGeom>
          <a:noFill/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INGENIERÍA DE SOFTWARE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129844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DOCUMENTO 0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965960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500"/>
              <a:buFont typeface="Calibri"/>
              <a:buNone/>
            </a:pPr>
            <a:r>
              <a:rPr lang="en-US" sz="16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INVENTARIO Y PERSONAL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500"/>
              <a:buFont typeface="Calibri"/>
              <a:buNone/>
            </a:pPr>
            <a:r>
              <a:rPr lang="en-US" sz="16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MINIMARKET Y PANADERÍA HUÁSCAR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914400" y="2788920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7A8B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1371600" y="290779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7A8B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r>
              <a:rPr lang="en-US" sz="12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Aravena Santa María, Vicente   ·   Carreño Becerra, Clemente   ·   Huerta Mallea, Benjamín   ·   Ibáñez Martínez, Bastián   ·   Morales Zavaleta, Joao   ·   Navarro Monje, Renato   ·   Núñez Montagna, Tomás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0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Profesor: Paulo Luis Francisco Quinsacara Jofré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0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Santiago, Chile  ·  2026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0"/>
            <a:ext cx="1861770" cy="6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DOCUMENTO 0  ·  MINIMARKET Y PANADERÍA HUÁSCAR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ÍNDICE DE CONTENIDOS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960120"/>
            <a:ext cx="40233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Organización de Trabajo.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 (Ubicación, Misión, Visión, Organigrama, Descriptiva).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Interno y Externo (PESTEL, Porter, Cadena de Valor, FODA).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Levantamiento de Procesos BPMN.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Herramienta Cuantitativa — Histograma.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Herramienta Cualitativa — Ishikawa.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Descripción de la Problemática.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Funcionales y No Funcionales.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Casos de Uso.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Diagramas de Casos de Uso.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 de Requerimientos vs Casos de Uso.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Costos y Beneficios.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4572000" y="960120"/>
            <a:ext cx="0" cy="3840600"/>
          </a:xfrm>
          <a:prstGeom prst="straightConnector1">
            <a:avLst/>
          </a:prstGeom>
          <a:noFill/>
          <a:ln cap="flat" cmpd="sng" w="12700">
            <a:solidFill>
              <a:srgbClr val="E8EC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595360" y="491947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Organización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Trabajo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Trazabilidad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2960"/>
            <a:ext cx="8839201" cy="3676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INTRODUCCIÓN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Propósito del Proyecto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57200" y="896112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documento establece la línea base del proyecto de Ingeniería de Software para el Minimarket y Panadería Huáscar, ubicado en Rengo, Región de O'Higgins. El negocio lleva más de diez años funcionando en los rubros de minimarket, panadería y carnicería, y creció hasta un punto donde gestionar todo de forma manual dejó de ser viable.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1490" y="1901945"/>
            <a:ext cx="2103000" cy="155460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1490" y="1901945"/>
            <a:ext cx="2103000" cy="1098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82930" y="2029961"/>
            <a:ext cx="192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Diagnóstico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Estratégico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82930" y="2633464"/>
            <a:ext cx="192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PESTEL, Porter,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Cadena de Valor, FODA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377490" y="1901945"/>
            <a:ext cx="2103000" cy="155460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377490" y="1901945"/>
            <a:ext cx="2103000" cy="1098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468930" y="2029961"/>
            <a:ext cx="192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468930" y="2633464"/>
            <a:ext cx="192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Levantamiento en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Bizagi Modeler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663490" y="1901945"/>
            <a:ext cx="2103000" cy="155460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663490" y="1901945"/>
            <a:ext cx="2103000" cy="1098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754930" y="2029961"/>
            <a:ext cx="192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Objetivos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754930" y="2633464"/>
            <a:ext cx="192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Funcionales, No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Funcionales, UR-ESA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949490" y="1901945"/>
            <a:ext cx="2103000" cy="155460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762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949490" y="1901945"/>
            <a:ext cx="2103000" cy="1098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040930" y="2029961"/>
            <a:ext cx="192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040930" y="2633464"/>
            <a:ext cx="1920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personal digital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7200" y="37490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partir del diagnóstico se definen los requerimientos y objetivos del sistema propuesto, orientado a reemplazar procesos manuales, reducir pérdidas económicas y optimizar la toma de decisiones mediante la digitalización.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CONTEXTO  ·  ORGANIGRAMA Y QUEHACER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Organigrama y Descriptiva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65760" y="2788920"/>
            <a:ext cx="84124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2920" y="2852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02925" y="3182105"/>
            <a:ext cx="82296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Fundada en 2016 cuando la villa estaba formándose y los vecinos no tenían comercios cercanos. Lo que empezó como panadería fue sumando productos: abarrotes, carnicería, pastelería y fiambrería. Hoy es el punto de abastecimiento integral del barrio.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02920" y="3722360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hacer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02920" y="39966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Abastecimiento integral de bienes de consumo básico local: producción artesanal de panadería + comercialización minorista, carnicería y fiambrería en un punto de venta unificado.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550" y="292599"/>
            <a:ext cx="4848450" cy="24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CONTEXTO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Ubicación, Misión y Visión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02920" y="987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📍  Ubicación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02920" y="1298448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Huáscar 200, Rengo, O'Higgins, Chile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Minimarket con panadería de carácter local, con más de 10 años de funcionamiento en el barrio.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754880" y="914400"/>
            <a:ext cx="402336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892040" y="9875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  Misión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892040" y="1298448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Contribuir a la sociedad, generar empleo y abastecer a todos los vecinos del sector de manera eficiente y con precios accesibles para todos.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365760" y="2724912"/>
            <a:ext cx="84124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02920" y="27980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🔭  Visión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2920" y="310896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 el minimarket líder en la zona, reconocidos por la calidad de los productos, la cercanía con los clientes y la excelencia en la atención, convirtiéndose en la primera opción de compra para los vecinos y un aporte al desarrollo de la comunidad.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ANÁLISIS INTERNO Y EXTERNO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PESTEL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4320" y="9601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74320" y="960120"/>
            <a:ext cx="438912" cy="150876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74320" y="141732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777240" y="1005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77240" y="130759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Estabilidad regional O'Higgins. Normativas sanitarias para alimentos. Legislación laboral para 9 trabajadores.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154680" y="9601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154680" y="960120"/>
            <a:ext cx="438912" cy="150876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3154680" y="141732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657600" y="1005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Económico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657600" y="130759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Inflación afecta insumos (harina, carne). Variación IPC impacta poder adquisitivo de familias de Rengo.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035040" y="96012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035040" y="960120"/>
            <a:ext cx="438912" cy="1508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035040" y="141732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537960" y="1005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537960" y="130759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Clientela familiar con alta fidelización. Crecimiento demográfico del sector genera mayor demanda.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74320" y="265176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274320" y="2651760"/>
            <a:ext cx="438912" cy="1508760"/>
          </a:xfrm>
          <a:prstGeom prst="rect">
            <a:avLst/>
          </a:prstGeom>
          <a:solidFill>
            <a:srgbClr val="5C3D11"/>
          </a:solidFill>
          <a:ln cap="flat" cmpd="sng" w="12700">
            <a:solidFill>
              <a:srgbClr val="5C3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274320" y="310896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77240" y="26974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Tecnológico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77240" y="299923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Ausencia de sistema digital de inventario: debilidad crítica. Posibilidad de implementar sistema POS.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154680" y="265176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154680" y="2651760"/>
            <a:ext cx="438912" cy="150876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154680" y="310896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657600" y="26974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Ecológico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657600" y="299923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Regulaciones de manejo de residuos orgánicos. Oportunidad de posicionarse como negocio responsable.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035040" y="2651760"/>
            <a:ext cx="2743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035040" y="2651760"/>
            <a:ext cx="438912" cy="150876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035040" y="3108960"/>
            <a:ext cx="4389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537960" y="26974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537960" y="2999232"/>
            <a:ext cx="2148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Cumplimiento RSA y normas Minsal. Ley 19.496 protección al consumidor. Normativa SII y horario 08:00 - 23:00.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595360" y="491947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ANÁLISIS INTERNO Y EXTERNO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Fuerzas de Porter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925" y="804675"/>
            <a:ext cx="6705599" cy="409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ANÁLISIS INTERNO Y EXTERNO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Cadena De Valor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736" y="890200"/>
            <a:ext cx="6459976" cy="402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ANÁLISIS INTERNO Y EXTERNO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FODA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b="11331" l="7280" r="7578" t="8251"/>
          <a:stretch/>
        </p:blipFill>
        <p:spPr>
          <a:xfrm>
            <a:off x="1685375" y="804675"/>
            <a:ext cx="5773256" cy="409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LEVANTAMIENTO DE PROCESOS (BPMN)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 Modelados en Bizagi Modeler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320040" y="987552"/>
            <a:ext cx="502920" cy="54864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20040" y="987552"/>
            <a:ext cx="502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4.1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868680" y="987552"/>
            <a:ext cx="79552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960120" y="103327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 de Venta y Cobro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60120" y="12618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Flujo desde que el cliente selecciona productos hasta el cobro y emisión de boleta.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8595360" y="491947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536205"/>
            <a:ext cx="8417911" cy="33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LEVANTAMIENTO DE PROCESOS (BPMN)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 Modelados en Bizagi Modeler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320040" y="987552"/>
            <a:ext cx="502800" cy="5487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320040" y="987552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4.2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868680" y="987552"/>
            <a:ext cx="79554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960120" y="103327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Subproceso de Cobro de la Venta</a:t>
            </a:r>
            <a:endParaRPr b="1" sz="12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993745" y="1177372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Selección del método de pago y registro del cobro según el medio utilizado.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650288"/>
            <a:ext cx="8129375" cy="316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LEVANTAMIENTO DE PROCESOS (BPMN)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 Modelados en Bizagi Modeler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319952" y="861702"/>
            <a:ext cx="502800" cy="5487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319952" y="861702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4.3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868600" y="861699"/>
            <a:ext cx="7955400" cy="69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960033" y="90742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 de Recepción y Almacenamiento</a:t>
            </a:r>
            <a:endParaRPr b="1" sz="12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960025" y="1136024"/>
            <a:ext cx="77724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Recepción de productos del proveedor, verificación y registro en inventario.</a:t>
            </a:r>
            <a:endParaRPr sz="11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0700"/>
            <a:ext cx="9052551" cy="335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LEVANTAMIENTO DE PROCESOS (BPMN)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 Modelados en Bizagi Modeler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91315" y="987590"/>
            <a:ext cx="502800" cy="5487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91315" y="941690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4.4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639950" y="804605"/>
            <a:ext cx="7955400" cy="82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31395" y="850310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 de Control de Inventario y Mermas</a:t>
            </a:r>
            <a:endParaRPr b="1" sz="12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31400" y="1078888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productos vencidos, registro de mermas y reabastecimiento del local.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8595360" y="4919472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627500"/>
            <a:ext cx="8459039" cy="32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LEVANTAMIENTO DE PROCESOS (BPMN)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Procesos Modelados en Bizagi Modeler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82865" y="987611"/>
            <a:ext cx="502800" cy="5487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82865" y="987611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E5A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731505" y="987611"/>
            <a:ext cx="79554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822945" y="1033331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Turnos del Personal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822945" y="1261931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Asignación de turnos, registro de asistencia y control de horarios.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1000"/>
            <a:ext cx="9072770" cy="32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HERRAMIENTA CUANTITATIVA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Histograma de Pérdidas por Robos Mensuales (2025)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5852160" y="896112"/>
            <a:ext cx="2971800" cy="100584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852160" y="960120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~$40.000.000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5852160" y="141732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7A8B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>
                <a:solidFill>
                  <a:srgbClr val="7A8B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ngresos mensuales estimados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5852160" y="2011680"/>
            <a:ext cx="2971800" cy="1005840"/>
          </a:xfrm>
          <a:prstGeom prst="rect">
            <a:avLst/>
          </a:prstGeom>
          <a:solidFill>
            <a:srgbClr val="B85042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5852160" y="2084832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3,5% – 4,5%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5852160" y="251460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ingresos totales perdidos por robo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852160" y="3127248"/>
            <a:ext cx="2971800" cy="1005840"/>
          </a:xfrm>
          <a:prstGeom prst="rect">
            <a:avLst/>
          </a:prstGeom>
          <a:solidFill>
            <a:srgbClr val="2C5F2D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852160" y="321868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Tendencia al alza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5852160" y="36118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Pérdidas crecientes en el último trimestre del año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7098"/>
          <a:stretch/>
        </p:blipFill>
        <p:spPr>
          <a:xfrm>
            <a:off x="83800" y="1081425"/>
            <a:ext cx="5768350" cy="30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HERRAMIENTA CUALITATIVA  ·  DIAGRAMA DE ISHIKAWA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Causa Raíz: Pérdidas Económicas por Robos y Mermas No Detectadas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63" y="804675"/>
            <a:ext cx="7498075" cy="39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DESCRIPCIÓN DE LA PROBLEMÁTICA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Problemática Central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320040" y="987552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320040" y="987552"/>
            <a:ext cx="73152" cy="169164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484632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📋  Gestión Manual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84632" y="1444752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inventario, registro de productos y horarios en cuadernos. Sin digitalización genera desorden y errores administrativos.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709160" y="987552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4709160" y="987552"/>
            <a:ext cx="73152" cy="1691640"/>
          </a:xfrm>
          <a:prstGeom prst="rect">
            <a:avLst/>
          </a:prstGeom>
          <a:solidFill>
            <a:srgbClr val="5C3D11"/>
          </a:solidFill>
          <a:ln cap="flat" cmpd="sng" w="12700">
            <a:solidFill>
              <a:srgbClr val="5C3D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4873752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📦  Sin Control de Stock en Tiempo Real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873752" y="1444752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Imposible conocer cantidad exacta de productos. Revisiones de inventario tardan semanas cuando deberían ser instantáneas.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320040" y="2907792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20040" y="2907792"/>
            <a:ext cx="73152" cy="1691640"/>
          </a:xfrm>
          <a:prstGeom prst="rect">
            <a:avLst/>
          </a:prstGeom>
          <a:solidFill>
            <a:srgbClr val="E05C3A"/>
          </a:solidFill>
          <a:ln cap="flat" cmpd="sng" w="12700">
            <a:solidFill>
              <a:srgbClr val="E05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484632" y="29992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💸  Pérdidas Económicas Significativas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484632" y="3364992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~4% del inventario mensual se pierde por robos hormiga. ~0,3% por vencimiento en estanterías. Total estimado $1.600.000–$2.300.000/mes.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4709160" y="2907792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4709160" y="2907792"/>
            <a:ext cx="73152" cy="1691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4873752" y="29992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🔗  Sin Integración Ventas-Inventario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4873752" y="3364992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000"/>
              <a:buFont typeface="Calibri"/>
              <a:buNone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Boletas electrónicas SII no integradas con stock. Productos vendidos no se descuentan automáticamente del inventario.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REQUERIMIENTOS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del Sistema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320040" y="960120"/>
            <a:ext cx="1920240" cy="105156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320040" y="98755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320040" y="158191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2468880" y="960120"/>
            <a:ext cx="1920240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2468880" y="98755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2468880" y="158191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Funcionales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617720" y="960120"/>
            <a:ext cx="1920300" cy="1051500"/>
          </a:xfrm>
          <a:prstGeom prst="rect">
            <a:avLst/>
          </a:prstGeom>
          <a:solidFill>
            <a:srgbClr val="2C5F2D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4617720" y="987552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617720" y="1581912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6766560" y="960120"/>
            <a:ext cx="1920300" cy="1051500"/>
          </a:xfrm>
          <a:prstGeom prst="rect">
            <a:avLst/>
          </a:prstGeom>
          <a:solidFill>
            <a:srgbClr val="B85042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6766560" y="987552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6766560" y="1581912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Roles 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365760" y="214884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502920" y="2148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Módulos Del Sistema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365760" y="2560320"/>
            <a:ext cx="841248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Inventario: Registro, modificación, alertas de stock mínimo y vencimiento de lotes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Proveedores: Gestión de proveedores, pedidos y recepción de mercadería</a:t>
            </a:r>
            <a:endParaRPr sz="11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 (Valorización y Exportación): Valor total del inventario y exportación de listados en PDF/Excel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Trabajadores y Asistencia: Trabajadores, turnos semanales, asistencia y liquidaciones de sueldo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Ventas: Registro de ventas, descuentos, anulaciones y cierre diario de caja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Reportes y Exportación: Rentabilidad por categoría, mermas, productos más vendidos y auditoría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y Control de Acceso: Roles (dueño, cajero, reponedor), sesiones y log de auditoría</a:t>
            </a:r>
            <a:endParaRPr sz="11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Times New Roman"/>
              <a:buAutoNum type="arabicPeriod"/>
            </a:pPr>
            <a:r>
              <a:rPr lang="en-US" sz="11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Integración Lector de Código de Barras: Escaneo EAN-13 con transmisión automática al módulo activo</a:t>
            </a:r>
            <a:endParaRPr sz="11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REQUERIMIENTOS DEL SISTEMA BAJO EL 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ESTÁNDAR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12680" y="345775"/>
            <a:ext cx="31500" cy="292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498225" y="292375"/>
            <a:ext cx="82296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2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Funcionales y no funcionales, considerando la necesidad, prioridad, estabilidad, claridad, verificabilidad y fuente.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182874" y="888313"/>
            <a:ext cx="2877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9" name="Google Shape;3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0" y="1182575"/>
            <a:ext cx="7858025" cy="18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0" y="2743550"/>
            <a:ext cx="7858025" cy="155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"/>
          <p:cNvSpPr/>
          <p:nvPr/>
        </p:nvSpPr>
        <p:spPr>
          <a:xfrm>
            <a:off x="0" y="0"/>
            <a:ext cx="9144000" cy="376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182870" y="4200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925" y="948299"/>
            <a:ext cx="4033750" cy="286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125" y="948300"/>
            <a:ext cx="4093125" cy="29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Diagramas 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Caso de usos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502920" y="4572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Productos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274325" y="804600"/>
            <a:ext cx="6336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Permite registrar lotes y gestionar el ciclo completo del producto: validar, modificar, cambiar estado y eliminar.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4" name="Google Shape;4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925" y="1345378"/>
            <a:ext cx="5501701" cy="357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3627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Diagramas de Caso de usos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545575" y="393700"/>
            <a:ext cx="82296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Trabajadores</a:t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8595360" y="4919472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239750" y="905800"/>
            <a:ext cx="633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Registra, modifica y controla el estado de cada trabajador. Permite consultar la nómina operativa completa.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418" name="Google Shape;4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25" y="1392850"/>
            <a:ext cx="6495326" cy="34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0" y="0"/>
            <a:ext cx="9144000" cy="2925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274320" y="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 de Requerimientos vs. casos de Uso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365760" y="457200"/>
            <a:ext cx="63900" cy="3474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502925" y="457200"/>
            <a:ext cx="8229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 de Requerimientos</a:t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Casos de Uso</a:t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rgbClr val="1A2E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320040" y="896112"/>
            <a:ext cx="8503800" cy="105150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365750" y="941825"/>
            <a:ext cx="8366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elaboró una Matriz de Trazabilidad que contrasta 64 requerimientos funcionales, distribuidos en 12 módulos, con 71 casos de uso del sistema. Cada celda marcada con ✓ confirma que el caso de uso cubre directamente el requerimiento. El análisis evidenció un 100 % de cobertura, garantizando la consistencia y completitud del diseño.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8595360" y="4919472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3" name="Google Shape;433;p26"/>
          <p:cNvGraphicFramePr/>
          <p:nvPr/>
        </p:nvGraphicFramePr>
        <p:xfrm>
          <a:off x="71075" y="2560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{2C77DB09-FA7A-442D-8AC8-FDB2E9C0EDD6}</a:tableStyleId>
              </a:tblPr>
              <a:tblGrid>
                <a:gridCol w="1280475"/>
                <a:gridCol w="702525"/>
                <a:gridCol w="1007325"/>
                <a:gridCol w="1007325"/>
              </a:tblGrid>
              <a:tr h="34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D4A017"/>
                          </a:solidFill>
                        </a:rPr>
                        <a:t>61</a:t>
                      </a:r>
                      <a:endParaRPr b="1">
                        <a:solidFill>
                          <a:srgbClr val="D4A01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D4A017"/>
                          </a:solidFill>
                        </a:rPr>
                        <a:t>68</a:t>
                      </a:r>
                      <a:endParaRPr b="1">
                        <a:solidFill>
                          <a:srgbClr val="D4A01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D4A017"/>
                          </a:solidFill>
                        </a:rPr>
                        <a:t>8</a:t>
                      </a:r>
                      <a:endParaRPr b="1">
                        <a:solidFill>
                          <a:srgbClr val="D4A01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D4A017"/>
                          </a:solidFill>
                        </a:rPr>
                        <a:t>100%</a:t>
                      </a:r>
                      <a:endParaRPr b="1">
                        <a:solidFill>
                          <a:srgbClr val="D4A017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</a:tr>
              <a:tr h="70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 </a:t>
                      </a: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Funcionales</a:t>
                      </a:r>
                      <a:endParaRPr b="1" sz="1200">
                        <a:solidFill>
                          <a:srgbClr val="D4A0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Casos de Uso</a:t>
                      </a:r>
                      <a:endParaRPr b="1" sz="1200">
                        <a:solidFill>
                          <a:srgbClr val="D4A0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Módulos</a:t>
                      </a: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del Sistema</a:t>
                      </a:r>
                      <a:endParaRPr b="1" sz="1200">
                        <a:solidFill>
                          <a:srgbClr val="D4A0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4A01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Cobertura Alcanzada</a:t>
                      </a:r>
                      <a:endParaRPr b="1" sz="1200">
                        <a:solidFill>
                          <a:srgbClr val="D4A017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3E57"/>
                    </a:solidFill>
                  </a:tcPr>
                </a:tc>
              </a:tr>
            </a:tbl>
          </a:graphicData>
        </a:graphic>
      </p:graphicFrame>
      <p:pic>
        <p:nvPicPr>
          <p:cNvPr id="434" name="Google Shape;4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325" y="1947600"/>
            <a:ext cx="4517526" cy="29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7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274320" y="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12.</a:t>
            </a: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365760" y="457200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50292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 General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320040" y="896112"/>
            <a:ext cx="8503920" cy="1051560"/>
          </a:xfrm>
          <a:prstGeom prst="rect">
            <a:avLst/>
          </a:prstGeom>
          <a:solidFill>
            <a:srgbClr val="1A2E5A"/>
          </a:solidFill>
          <a:ln>
            <a:noFill/>
          </a:ln>
          <a:effectLst>
            <a:outerShdw blurRad="635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502920" y="1005839"/>
            <a:ext cx="82296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sistema web de gestión de inventario, ventas y personal para mejorar el control operativo y reducir las pérdidas económicas en el Minimarket y Panadería Huáscar, ubicado en la localidad de Rengo, Región de O'Higgins.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E57"/>
              </a:buClr>
              <a:buSzPts val="11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365760" y="2084832"/>
            <a:ext cx="64008" cy="3474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502920" y="2084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5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2E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Específicos Principales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365760" y="2487168"/>
            <a:ext cx="8412480" cy="2340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Analizar el contexto organizacional del Minimarket Huáscar mediante el relevamiento de su misión, visión y estructura interna para establecer las bases descriptivas que sustentan el desarrollo del proyecto.</a:t>
            </a:r>
            <a:endParaRPr sz="12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 la situación estratégica del negocio mediante el uso de los métodos PESTEL, Porter y FODA para comprender el entorno competitivo y las capacidades operativas del local.</a:t>
            </a:r>
            <a:endParaRPr sz="12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D3E57"/>
              </a:buClr>
              <a:buSzPts val="1200"/>
              <a:buFont typeface="Times New Roman"/>
              <a:buChar char="•"/>
            </a:pPr>
            <a:r>
              <a:rPr lang="en-US" sz="1200">
                <a:solidFill>
                  <a:srgbClr val="2D3E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Examinar los problemas operativos del negocio mediante el uso del software Microsoft Excel para la construcción de diagramas de histograma, lo que permite identificar la frecuencia y magnitud de las fallas actuales.</a:t>
            </a:r>
            <a:endParaRPr sz="12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D3E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182880" y="4919472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8595360" y="4919472"/>
            <a:ext cx="457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"/>
          <p:cNvSpPr/>
          <p:nvPr/>
        </p:nvSpPr>
        <p:spPr>
          <a:xfrm>
            <a:off x="0" y="0"/>
            <a:ext cx="9144000" cy="4518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274345" y="7965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13. Costos y Beneficios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1" name="Google Shape;461;p28"/>
          <p:cNvGraphicFramePr/>
          <p:nvPr/>
        </p:nvGraphicFramePr>
        <p:xfrm>
          <a:off x="386500" y="101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{FCF9AD55-0411-4619-B6F1-B6D857C01550}</a:tableStyleId>
              </a:tblPr>
              <a:tblGrid>
                <a:gridCol w="2238375"/>
                <a:gridCol w="781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Inversión Inicial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desarrollo (7 roles × 4 meses)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$ 44.7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.000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lector EAN-13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$ 50.000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Repositorio GitHub Team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Turso Cloud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(setup)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SQLite + stack tecnológico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$ 44.770.000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2" name="Google Shape;462;p28"/>
          <p:cNvGraphicFramePr/>
          <p:nvPr/>
        </p:nvGraphicFramePr>
        <p:xfrm>
          <a:off x="4586700" y="100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{FCF9AD55-0411-4619-B6F1-B6D857C01550}</a:tableStyleId>
              </a:tblPr>
              <a:tblGrid>
                <a:gridCol w="1695450"/>
                <a:gridCol w="1162050"/>
              </a:tblGrid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Operativos Mensuales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Soporte técnico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$ 780.000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Turso Cloud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(DB hospedada)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Team (mantención)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SQLite + stack open-source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$ 780.000/Mensual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0" y="0"/>
            <a:ext cx="9144000" cy="4518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274345" y="7965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13. Costos y Beneficios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8595360" y="4919472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3" name="Google Shape;473;p29"/>
          <p:cNvGraphicFramePr/>
          <p:nvPr/>
        </p:nvGraphicFramePr>
        <p:xfrm>
          <a:off x="918075" y="743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{2C77DB09-FA7A-442D-8AC8-FDB2E9C0EDD6}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Beneficios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Descripción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Impacto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Reducción</a:t>
                      </a:r>
                      <a:r>
                        <a:rPr b="1" lang="en-US" sz="800"/>
                        <a:t> de </a:t>
                      </a:r>
                      <a:r>
                        <a:rPr b="1" lang="en-US" sz="800"/>
                        <a:t>pérdidas</a:t>
                      </a:r>
                      <a:r>
                        <a:rPr b="1" lang="en-US" sz="800"/>
                        <a:t> y Mermas 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Disminución de los robos internos y pérdida de mercadería gracias al registro exacto de cada movimiento.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Ahorro de $4.000.000 mensuales (reducción del 4% en pérdidas sobre el total de ventas).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Control de stock inteligente 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Monitoreo automático de los productos disponibles con alertas para avisar cuando hay que comprar más mercadería.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Elimina la falta de productos clave en las repisas y asegura que siempre haya stock para vender.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Gestión de Productos Perecibles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El sistema avisa y prioriza la salida de los productos que están más próximos a su fecha de caducidad.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Evita botar mercadería a la basura (especialmente en panadería y lácteos), protegiendo la inversión.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Atención en Caja más Rápida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Uso de lectores de código de barras para registrar las ventas y actualizar el inventario en el mismo instante.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Filas más cortas y clientes más felices gracias a un servicio de pago mucho más ágil.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Alta Rentabilidad Financiera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El proyecto genera un valor económico real y demostrable, produciendo más dinero del que cuesta implementarlo.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VAN positivo de $8.180.164 y recuperación total de la inversión a partir del mes 16.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/>
          <p:nvPr/>
        </p:nvSpPr>
        <p:spPr>
          <a:xfrm>
            <a:off x="0" y="0"/>
            <a:ext cx="9144000" cy="4518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274345" y="79650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13. Costos y Beneficios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0" y="4919472"/>
            <a:ext cx="9144000" cy="219600"/>
          </a:xfrm>
          <a:prstGeom prst="rect">
            <a:avLst/>
          </a:prstGeom>
          <a:solidFill>
            <a:srgbClr val="1A2E5A"/>
          </a:solidFill>
          <a:ln cap="flat" cmpd="sng" w="12700">
            <a:solidFill>
              <a:srgbClr val="1A2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>
            <a:off x="182880" y="4919472"/>
            <a:ext cx="73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BA8"/>
                </a:solidFill>
                <a:latin typeface="Calibri"/>
                <a:ea typeface="Calibri"/>
                <a:cs typeface="Calibri"/>
                <a:sym typeface="Calibri"/>
              </a:rPr>
              <a:t>Minimarket y Panadería Huáscar  |  Ingeniería de Software I  | 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8595360" y="4919472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3150"/>
            <a:ext cx="9144000" cy="24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0"/>
          <p:cNvSpPr txBox="1"/>
          <p:nvPr/>
        </p:nvSpPr>
        <p:spPr>
          <a:xfrm>
            <a:off x="429775" y="635750"/>
            <a:ext cx="412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DE RECURSOS HUMANOS — EQUIPO DE DESARROLLO (4 MESES)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182880" y="669200"/>
            <a:ext cx="246900" cy="5487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30"/>
          <p:cNvSpPr txBox="1"/>
          <p:nvPr/>
        </p:nvSpPr>
        <p:spPr>
          <a:xfrm>
            <a:off x="535575" y="1251350"/>
            <a:ext cx="87000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tabla presenta la estimación de costos del equipo de desarrollo durante 4 meses, basada en sueldos de mercado para profesionales junior en Chile según fuentes IT Hunters, Glassdoor, CATED y Computrabajo.</a:t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429771" y="1332500"/>
            <a:ext cx="104400" cy="4518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5A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457200" y="469482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7A8B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Facultad de Ingeniería  |  Ingeniería de Software I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6" name="Google Shape;496;p31"/>
          <p:cNvCxnSpPr/>
          <p:nvPr/>
        </p:nvCxnSpPr>
        <p:spPr>
          <a:xfrm>
            <a:off x="914400" y="787067"/>
            <a:ext cx="7315200" cy="0"/>
          </a:xfrm>
          <a:prstGeom prst="straightConnector1">
            <a:avLst/>
          </a:prstGeom>
          <a:noFill/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31"/>
          <p:cNvSpPr/>
          <p:nvPr/>
        </p:nvSpPr>
        <p:spPr>
          <a:xfrm>
            <a:off x="548700" y="175289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GRACIAS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457200" y="2833535"/>
            <a:ext cx="8229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500"/>
              <a:buFont typeface="Calibri"/>
              <a:buNone/>
            </a:pPr>
            <a:r>
              <a:rPr lang="en-US" sz="16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MANEJO DE INVENTARIO Y PERSONAL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500"/>
              <a:buFont typeface="Calibri"/>
              <a:buNone/>
            </a:pPr>
            <a:r>
              <a:rPr lang="en-US" sz="1600">
                <a:solidFill>
                  <a:srgbClr val="D4A0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MINIMARKET Y PANADERÍA HUÁSCAR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9" name="Google Shape;499;p31"/>
          <p:cNvCxnSpPr/>
          <p:nvPr/>
        </p:nvCxnSpPr>
        <p:spPr>
          <a:xfrm>
            <a:off x="1005900" y="4021445"/>
            <a:ext cx="7315200" cy="0"/>
          </a:xfrm>
          <a:prstGeom prst="straightConnector1">
            <a:avLst/>
          </a:prstGeom>
          <a:noFill/>
          <a:ln cap="flat" cmpd="sng" w="9525">
            <a:solidFill>
              <a:srgbClr val="7A8B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31"/>
          <p:cNvSpPr/>
          <p:nvPr/>
        </p:nvSpPr>
        <p:spPr>
          <a:xfrm>
            <a:off x="457200" y="41148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BA8"/>
              </a:buClr>
              <a:buSzPts val="10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Santiago, Chile  ·  2026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1" name="Google Shape;5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0"/>
            <a:ext cx="1861770" cy="6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