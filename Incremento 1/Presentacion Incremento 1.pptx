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Old Standard TT"/>
      <p:regular r:id="rId23"/>
      <p:bold r:id="rId24"/>
      <p: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OldStandardTT-bold.fntdata"/><Relationship Id="rId23" Type="http://schemas.openxmlformats.org/officeDocument/2006/relationships/font" Target="fonts/OldStandardT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e17fca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e17fca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be17fca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be17fca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be17fca9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be17fca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be17fca9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be17fca9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be17fca9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be17fca9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be17fca97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be17fca97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be17fca97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be17fca97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be17fca97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be17fca97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be17fca97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be17fca97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be17fca97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be17fca97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be17fca97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be17fca97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bfd04f35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bfd04f35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128200" y="141125"/>
            <a:ext cx="8744100" cy="1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Sistema de </a:t>
            </a:r>
            <a:r>
              <a:rPr lang="es" sz="3500"/>
              <a:t>Gestión -</a:t>
            </a:r>
            <a:r>
              <a:rPr lang="es" sz="3500"/>
              <a:t> Minimarket y </a:t>
            </a:r>
            <a:r>
              <a:rPr lang="es" sz="3500"/>
              <a:t>panadería</a:t>
            </a:r>
            <a:r>
              <a:rPr lang="es" sz="3500"/>
              <a:t> </a:t>
            </a:r>
            <a:r>
              <a:rPr lang="es" sz="3500"/>
              <a:t>Huáscar</a:t>
            </a:r>
            <a:endParaRPr sz="35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101300" y="33224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</a:rPr>
              <a:t>Presentación</a:t>
            </a:r>
            <a:r>
              <a:rPr lang="es">
                <a:solidFill>
                  <a:schemeClr val="lt2"/>
                </a:solidFill>
              </a:rPr>
              <a:t> Incremento 1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</a:rPr>
              <a:t>Grupo 06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426100" y="3266100"/>
            <a:ext cx="3663600" cy="18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Vicente Aravena Santa María.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Clemente Carreño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Becerra.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Benjamín Huerta Mallea.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Bastián Ibañez Martínez.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Joao Morales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Zavaleta.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Renato Navarro Monje.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Tomás Núñez Montagna.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00"/>
              <a:t>Índice</a:t>
            </a:r>
            <a:r>
              <a:rPr lang="es" sz="2500"/>
              <a:t> de contenidos</a:t>
            </a:r>
            <a:endParaRPr sz="2500"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Contextualización</a:t>
            </a:r>
            <a:r>
              <a:rPr lang="es"/>
              <a:t>: </a:t>
            </a:r>
            <a:r>
              <a:rPr lang="es"/>
              <a:t>Problemática</a:t>
            </a:r>
            <a:r>
              <a:rPr lang="es"/>
              <a:t>, </a:t>
            </a:r>
            <a:r>
              <a:rPr lang="es"/>
              <a:t>Solución</a:t>
            </a:r>
            <a:r>
              <a:rPr lang="es"/>
              <a:t> y Alcance del Incremento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CU 01.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CU 03.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Arquitectura 4 + 1.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Vista </a:t>
            </a:r>
            <a:r>
              <a:rPr lang="es"/>
              <a:t>Lógica, diagrama físico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Vista de Desarrollo, diagrama de componentes.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/>
              <a:t>Trazabilidad Scrum ++ - Backlog.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00"/>
              <a:t>Contextualización</a:t>
            </a:r>
            <a:endParaRPr sz="2500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0" y="613200"/>
            <a:ext cx="8578200" cy="11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Problemática</a:t>
            </a:r>
            <a:r>
              <a:rPr b="1" lang="es"/>
              <a:t>:</a:t>
            </a:r>
            <a:r>
              <a:rPr lang="es"/>
              <a:t> El Minimarket y Panadería Huáscar tiene un </a:t>
            </a:r>
            <a:r>
              <a:rPr lang="es"/>
              <a:t>problema</a:t>
            </a:r>
            <a:r>
              <a:rPr lang="es"/>
              <a:t> </a:t>
            </a:r>
            <a:r>
              <a:rPr lang="es"/>
              <a:t>de</a:t>
            </a:r>
            <a:r>
              <a:rPr lang="es"/>
              <a:t> </a:t>
            </a:r>
            <a:r>
              <a:rPr lang="es"/>
              <a:t>gestión</a:t>
            </a:r>
            <a:r>
              <a:rPr lang="es"/>
              <a:t> de inventario y de trabajadores ya que todo se hace de manera manual, por lo que no hay un registro y manejo de </a:t>
            </a:r>
            <a:r>
              <a:rPr lang="es"/>
              <a:t>información</a:t>
            </a:r>
            <a:r>
              <a:rPr lang="es"/>
              <a:t> confiable.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0" y="1734600"/>
            <a:ext cx="91440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Solución</a:t>
            </a:r>
            <a:r>
              <a:rPr b="1"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:</a:t>
            </a: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Sistema de de escritorio offline-first en Electron y Node.js para la </a:t>
            </a: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gestión</a:t>
            </a: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de inventario, venta y trabajadores.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2431400"/>
            <a:ext cx="91176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Alcance Incremento 1:</a:t>
            </a: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Para este proyecto </a:t>
            </a: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Realizamos 19 Requerimientos Funcionales, lo que equivale al 30,6% del total del proyecto cumpliendo con el requisito mínimo del 30% que se exige en la rúbrica para el primer incremento.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221225" y="442807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00"/>
              <a:t>Requerimiento 1 - CU</a:t>
            </a:r>
            <a:r>
              <a:rPr lang="es" sz="2500"/>
              <a:t> </a:t>
            </a:r>
            <a:r>
              <a:rPr lang="es" sz="2500"/>
              <a:t>01 - </a:t>
            </a:r>
            <a:r>
              <a:rPr lang="es" sz="2500"/>
              <a:t>Registrando</a:t>
            </a:r>
            <a:r>
              <a:rPr lang="es" sz="2500"/>
              <a:t> nuevo producto</a:t>
            </a:r>
            <a:endParaRPr sz="2500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0" y="613200"/>
            <a:ext cx="45684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2"/>
                </a:solidFill>
              </a:rPr>
              <a:t>Ficha Caso de uso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6450" y="961325"/>
            <a:ext cx="14463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Actor(es)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525850" y="961325"/>
            <a:ext cx="1728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Dueño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6450" y="1411100"/>
            <a:ext cx="12525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Frecuencia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525850" y="1411100"/>
            <a:ext cx="26547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Cada vez que se incorpora un nuevo producto.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6450" y="1958550"/>
            <a:ext cx="1499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Precondiciones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1525850" y="1958550"/>
            <a:ext cx="34131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El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usuario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ha iniciado sesión con rol Dueño y tiene permisos para acceder al registro administrativo de productos.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26450" y="2822200"/>
            <a:ext cx="1499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Postcondiciones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525850" y="2822200"/>
            <a:ext cx="33513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Producto registrado correctamente y disponible en el inventario con estado activo.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26450" y="3643475"/>
            <a:ext cx="1499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Dependencias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1525850" y="3643475"/>
            <a:ext cx="34131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RF01: Requiere que existan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categorías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de productos configuradas en el sistema.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5271175" y="658625"/>
            <a:ext cx="35130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Descripción</a:t>
            </a: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del Caso de uso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271175" y="1054200"/>
            <a:ext cx="3290100" cy="4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El caso de uso 01 permite al Usuario con el rol de Dueño ingresar al sistema un nuevo producto al inventario mediante un formulario que solicita EAN-13, nombre,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categoría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, precio de costo, precio de venta y stock mínimo. El sistema valida que el código EAN sea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numérico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, tenga 13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dígitos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y no este duplicado, que los campos obligatorios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estén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completos, que el precio de venta sea mayor al costo y que el stock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mínimo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sea igual o superior a cero. Si los datos son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válidos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, el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producto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se almacena en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estado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Activo y se muestra un mensaje de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confirmación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2500"/>
              <a:t>Diagrama de secuencia CU 01 - Flujo principal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/>
          </a:p>
        </p:txBody>
      </p:sp>
      <p:pic>
        <p:nvPicPr>
          <p:cNvPr id="100" name="Google Shape;100;p17" title="cu1-registrar-producto-secuencia-um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50" y="507900"/>
            <a:ext cx="8520600" cy="454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00"/>
              <a:t>Vistas del CU 01</a:t>
            </a:r>
            <a:endParaRPr sz="2500"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025" y="569100"/>
            <a:ext cx="7152551" cy="44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0" y="0"/>
            <a:ext cx="9101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00"/>
              <a:t>Requerimiento 2 - CU</a:t>
            </a:r>
            <a:r>
              <a:rPr lang="es" sz="2500"/>
              <a:t> </a:t>
            </a:r>
            <a:r>
              <a:rPr lang="es" sz="2500"/>
              <a:t>03 - Eliminando producto del inventario</a:t>
            </a:r>
            <a:endParaRPr sz="2500"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0" y="613200"/>
            <a:ext cx="45684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2"/>
                </a:solidFill>
              </a:rPr>
              <a:t>Ficha Caso de uso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26450" y="961325"/>
            <a:ext cx="14463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Actor(es)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525850" y="961325"/>
            <a:ext cx="25224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Dueño, Trabajador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6450" y="1411100"/>
            <a:ext cx="12525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Frecuencia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1525850" y="1411100"/>
            <a:ext cx="3745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Ocasionalmente, cuando un producto debe retirarse completamente del sistema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26450" y="1958550"/>
            <a:ext cx="1499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Precondiciones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1525850" y="1958550"/>
            <a:ext cx="34131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El usuario ha iniciado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sesión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y tiene los permisos correspondientes. El producto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existe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en el sistema.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26450" y="2822200"/>
            <a:ext cx="1499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Postcondiciones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1525850" y="2822200"/>
            <a:ext cx="3745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Producto eliminado de la base de datos si cumple las condiciones. En caso contrario,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registró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permanece sin cambios.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26450" y="3643475"/>
            <a:ext cx="1499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Dependencias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1525850" y="3643475"/>
            <a:ext cx="34131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RF03: El sistema debe verificar relaciones con ventas, mermas, lotes y movimientos de inventarios.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5271175" y="658625"/>
            <a:ext cx="35130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Descripción del Caso de uso</a:t>
            </a:r>
            <a:endParaRPr sz="15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5271175" y="1054200"/>
            <a:ext cx="3290100" cy="4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El caso de uso 03 permite al usuario con el rol de Dueño o Trabajador eliminar un producto del inventario a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través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de la búsqueda por su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código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EAN-13. El sistema muestra los datos del producto y solicita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confirmación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antes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verificar que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exista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y que no tenga ventas, mermas, lotes ni movimientos de inventario asociados. Si cumple estas condiciones, el producto se elimina de la base de datos y se muestra un mensaje exitoso. En el caso contrario, la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eliminación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se bloquea, se informa el motivo y el 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producto</a:t>
            </a: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permanece sin cambios.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00"/>
              <a:t>Diagrama de secuencia CU 03 - Flujo principal</a:t>
            </a:r>
            <a:endParaRPr sz="2500"/>
          </a:p>
        </p:txBody>
      </p:sp>
      <p:pic>
        <p:nvPicPr>
          <p:cNvPr id="130" name="Google Shape;130;p20" title="EliminarProductoInventar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413" y="524675"/>
            <a:ext cx="7743177" cy="4528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00"/>
              <a:t>Vistas del CU 03</a:t>
            </a:r>
            <a:endParaRPr sz="2500"/>
          </a:p>
        </p:txBody>
      </p:sp>
      <p:sp>
        <p:nvSpPr>
          <p:cNvPr id="136" name="Google Shape;136;p21"/>
          <p:cNvSpPr txBox="1"/>
          <p:nvPr/>
        </p:nvSpPr>
        <p:spPr>
          <a:xfrm>
            <a:off x="1359275" y="448567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937" y="652325"/>
            <a:ext cx="8426123" cy="43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0" y="0"/>
            <a:ext cx="8520600" cy="6132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00"/>
              <a:t>Arquitectura 4+1, Stack </a:t>
            </a:r>
            <a:r>
              <a:rPr lang="es" sz="2500"/>
              <a:t>tecnológico</a:t>
            </a:r>
            <a:endParaRPr sz="2500"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200" y="613200"/>
            <a:ext cx="7445594" cy="431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00"/>
              <a:t>Vista </a:t>
            </a:r>
            <a:r>
              <a:rPr lang="es" sz="2500"/>
              <a:t>lógica</a:t>
            </a:r>
            <a:r>
              <a:rPr lang="es" sz="2500"/>
              <a:t>, Diagrama de clases (UML)</a:t>
            </a:r>
            <a:endParaRPr sz="2500"/>
          </a:p>
        </p:txBody>
      </p:sp>
      <p:pic>
        <p:nvPicPr>
          <p:cNvPr id="149" name="Google Shape;149;p23" title="modelo_fisico(1)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75" y="501150"/>
            <a:ext cx="8381051" cy="450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00"/>
              <a:t>Vista de Desarrollo: Diagrama de Componentes</a:t>
            </a:r>
            <a:endParaRPr sz="2500"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3">
            <a:alphaModFix/>
          </a:blip>
          <a:srcRect b="22259" l="0" r="0" t="8267"/>
          <a:stretch/>
        </p:blipFill>
        <p:spPr>
          <a:xfrm>
            <a:off x="559350" y="746675"/>
            <a:ext cx="8025301" cy="403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00"/>
              <a:t>Trazabilidad Scrum ++ - Backlog</a:t>
            </a:r>
            <a:endParaRPr sz="2500"/>
          </a:p>
        </p:txBody>
      </p:sp>
      <p:pic>
        <p:nvPicPr>
          <p:cNvPr id="161" name="Google Shape;1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" y="481650"/>
            <a:ext cx="6427377" cy="346241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/>
        </p:nvSpPr>
        <p:spPr>
          <a:xfrm>
            <a:off x="6524250" y="481650"/>
            <a:ext cx="2514600" cy="4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 la siguiente imagen tenemos la primera sección del backlog para el incremento 1, para revisarlo completo en el documento incremento 1 estará completo.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