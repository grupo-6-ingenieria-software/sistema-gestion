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10287000" cx="18288000"/>
  <p:notesSz cx="6858000" cy="9144000"/>
  <p:embeddedFontLst>
    <p:embeddedFont>
      <p:font typeface="DM Sans Black"/>
      <p:bold r:id="rId23"/>
      <p:boldItalic r:id="rId24"/>
    </p:embeddedFont>
    <p:embeddedFont>
      <p:font typeface="DM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9" roundtripDataSignature="AMtx7mgefCl6IqalCT8ohMR/4H0/zVkUx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316D23-DD11-486A-8A6B-3A806BA581AD}">
  <a:tblStyle styleId="{4A316D23-DD11-486A-8A6B-3A806BA581AD}" styleName="Table_0">
    <a:wholeTbl>
      <a:tcTxStyle b="off" i="off">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D4D5184-4199-43EA-A614-1320DFF9D65E}"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DMSansBlack-boldItalic.fntdata"/><Relationship Id="rId23" Type="http://schemas.openxmlformats.org/officeDocument/2006/relationships/font" Target="fonts/DMSansBlack-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DMSans-bold.fntdata"/><Relationship Id="rId25" Type="http://schemas.openxmlformats.org/officeDocument/2006/relationships/font" Target="fonts/DMSans-regular.fntdata"/><Relationship Id="rId28" Type="http://schemas.openxmlformats.org/officeDocument/2006/relationships/font" Target="fonts/DMSans-boldItalic.fntdata"/><Relationship Id="rId27" Type="http://schemas.openxmlformats.org/officeDocument/2006/relationships/font" Target="fonts/DMSans-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customschemas.google.com/relationships/presentationmetadata" Target="meta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ec4c662846_0_1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g3ec4c662846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c4c662846_0_2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ec4c662846_0_2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ec4c662846_0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7" name="Google Shape;127;g3ec4c662846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ec4c662846_0_3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g3ec4c662846_0_3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ec4c662846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ec4c662846_0_2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ec6d24bafc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g3ec6d24bafc_0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ec4c662846_0_2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g3ec4c662846_0_2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c4c662846_0_2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g3ec4c662846_0_22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c4c662846_0_2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ec4c662846_0_2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ec6d24bafc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g3ec6d24bafc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ec4c662846_0_2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g3ec4c662846_0_2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ec4c662846_0_2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9" name="Google Shape;209;g3ec4c662846_0_2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ec4c662846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g3ec4c662846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8" name="Google Shape;22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4"/>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5"/>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6"/>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6"/>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7"/>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17"/>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8"/>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18"/>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18"/>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18"/>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0"/>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0"/>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20"/>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1"/>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1"/>
          <p:cNvSpPr/>
          <p:nvPr>
            <p:ph idx="2" type="pic"/>
          </p:nvPr>
        </p:nvSpPr>
        <p:spPr>
          <a:xfrm>
            <a:off x="1792288" y="612775"/>
            <a:ext cx="5486400" cy="4114800"/>
          </a:xfrm>
          <a:prstGeom prst="rect">
            <a:avLst/>
          </a:prstGeom>
          <a:noFill/>
          <a:ln>
            <a:noFill/>
          </a:ln>
        </p:spPr>
      </p:sp>
      <p:sp>
        <p:nvSpPr>
          <p:cNvPr id="64" name="Google Shape;64;p21"/>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2"/>
          <p:cNvSpPr txBox="1"/>
          <p:nvPr>
            <p:ph idx="1" type="body"/>
          </p:nvPr>
        </p:nvSpPr>
        <p:spPr>
          <a:xfrm rot="5400000">
            <a:off x="2308950"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3"/>
          <p:cNvSpPr txBox="1"/>
          <p:nvPr>
            <p:ph type="title"/>
          </p:nvPr>
        </p:nvSpPr>
        <p:spPr>
          <a:xfrm rot="5400000">
            <a:off x="4732350" y="2171688"/>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3"/>
          <p:cNvSpPr txBox="1"/>
          <p:nvPr>
            <p:ph idx="1" type="body"/>
          </p:nvPr>
        </p:nvSpPr>
        <p:spPr>
          <a:xfrm rot="5400000">
            <a:off x="541350" y="190488"/>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2"/>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png"/><Relationship Id="rId4" Type="http://schemas.openxmlformats.org/officeDocument/2006/relationships/image" Target="../media/image2.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83" name="Shape 83"/>
        <p:cNvGrpSpPr/>
        <p:nvPr/>
      </p:nvGrpSpPr>
      <p:grpSpPr>
        <a:xfrm>
          <a:off x="0" y="0"/>
          <a:ext cx="0" cy="0"/>
          <a:chOff x="0" y="0"/>
          <a:chExt cx="0" cy="0"/>
        </a:xfrm>
      </p:grpSpPr>
      <p:sp>
        <p:nvSpPr>
          <p:cNvPr id="84" name="Google Shape;84;p1"/>
          <p:cNvSpPr/>
          <p:nvPr/>
        </p:nvSpPr>
        <p:spPr>
          <a:xfrm rot="-2321758">
            <a:off x="-5349480" y="820084"/>
            <a:ext cx="32327423" cy="8162674"/>
          </a:xfrm>
          <a:custGeom>
            <a:rect b="b" l="l" r="r" t="t"/>
            <a:pathLst>
              <a:path extrusionOk="0" h="8162674" w="32327423">
                <a:moveTo>
                  <a:pt x="0" y="0"/>
                </a:moveTo>
                <a:lnTo>
                  <a:pt x="32327423" y="0"/>
                </a:lnTo>
                <a:lnTo>
                  <a:pt x="32327423" y="8162675"/>
                </a:lnTo>
                <a:lnTo>
                  <a:pt x="0" y="8162675"/>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123600" y="2305625"/>
            <a:ext cx="10972200" cy="2936700"/>
          </a:xfrm>
          <a:prstGeom prst="rect">
            <a:avLst/>
          </a:prstGeom>
          <a:noFill/>
          <a:ln>
            <a:noFill/>
          </a:ln>
        </p:spPr>
        <p:txBody>
          <a:bodyPr anchorCtr="0" anchor="t" bIns="0" lIns="0" spcFirstLastPara="1" rIns="0" wrap="square" tIns="0">
            <a:spAutoFit/>
          </a:bodyPr>
          <a:lstStyle/>
          <a:p>
            <a:pPr indent="0" lvl="0" marL="0" marR="0" rtl="0" algn="l">
              <a:lnSpc>
                <a:spcPct val="108987"/>
              </a:lnSpc>
              <a:spcBef>
                <a:spcPts val="0"/>
              </a:spcBef>
              <a:spcAft>
                <a:spcPts val="0"/>
              </a:spcAft>
              <a:buClr>
                <a:srgbClr val="000000"/>
              </a:buClr>
              <a:buSzPts val="6000"/>
              <a:buFont typeface="Arial"/>
              <a:buNone/>
            </a:pPr>
            <a:r>
              <a:rPr b="0" i="0" lang="en-US" sz="6000" u="none" cap="none" strike="noStrike">
                <a:solidFill>
                  <a:schemeClr val="dk1"/>
                </a:solidFill>
                <a:latin typeface="DM Sans Black"/>
                <a:ea typeface="DM Sans Black"/>
                <a:cs typeface="DM Sans Black"/>
                <a:sym typeface="DM Sans Black"/>
              </a:rPr>
              <a:t>SISTEMA DE GESTIÓN PARA</a:t>
            </a:r>
            <a:endParaRPr b="0" i="0" sz="6000" u="none" cap="none" strike="noStrike">
              <a:solidFill>
                <a:schemeClr val="dk1"/>
              </a:solidFill>
              <a:latin typeface="DM Sans Black"/>
              <a:ea typeface="DM Sans Black"/>
              <a:cs typeface="DM Sans Black"/>
              <a:sym typeface="DM Sans Black"/>
            </a:endParaRPr>
          </a:p>
          <a:p>
            <a:pPr indent="0" lvl="0" marL="0" marR="0" rtl="0" algn="l">
              <a:lnSpc>
                <a:spcPct val="108987"/>
              </a:lnSpc>
              <a:spcBef>
                <a:spcPts val="0"/>
              </a:spcBef>
              <a:spcAft>
                <a:spcPts val="0"/>
              </a:spcAft>
              <a:buClr>
                <a:srgbClr val="000000"/>
              </a:buClr>
              <a:buSzPts val="6000"/>
              <a:buFont typeface="Arial"/>
              <a:buNone/>
            </a:pPr>
            <a:r>
              <a:rPr b="0" i="0" lang="en-US" sz="6000" u="none" cap="none" strike="noStrike">
                <a:solidFill>
                  <a:schemeClr val="dk1"/>
                </a:solidFill>
                <a:latin typeface="DM Sans Black"/>
                <a:ea typeface="DM Sans Black"/>
                <a:cs typeface="DM Sans Black"/>
                <a:sym typeface="DM Sans Black"/>
              </a:rPr>
              <a:t>MINIMARKET Y PANADERÍA HUÁSCAR</a:t>
            </a:r>
            <a:endParaRPr b="0" i="0" sz="6000" u="none" cap="none" strike="noStrike">
              <a:solidFill>
                <a:schemeClr val="dk1"/>
              </a:solidFill>
              <a:latin typeface="DM Sans Black"/>
              <a:ea typeface="DM Sans Black"/>
              <a:cs typeface="DM Sans Black"/>
              <a:sym typeface="DM Sans Black"/>
            </a:endParaRPr>
          </a:p>
        </p:txBody>
      </p:sp>
      <p:sp>
        <p:nvSpPr>
          <p:cNvPr id="86" name="Google Shape;86;p1"/>
          <p:cNvSpPr txBox="1"/>
          <p:nvPr/>
        </p:nvSpPr>
        <p:spPr>
          <a:xfrm>
            <a:off x="1123600" y="5580723"/>
            <a:ext cx="6247500" cy="3970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99"/>
              <a:buFont typeface="Arial"/>
              <a:buNone/>
            </a:pPr>
            <a:r>
              <a:rPr b="1" i="0" lang="en-US" sz="2199" u="none" cap="none" strike="noStrike">
                <a:solidFill>
                  <a:srgbClr val="606060"/>
                </a:solidFill>
                <a:latin typeface="DM Sans"/>
                <a:ea typeface="DM Sans"/>
                <a:cs typeface="DM Sans"/>
                <a:sym typeface="DM Sans"/>
              </a:rPr>
              <a:t>Integrantes</a:t>
            </a:r>
            <a:endParaRPr b="1" i="0" sz="1400" u="none" cap="none" strike="noStrike">
              <a:solidFill>
                <a:srgbClr val="000000"/>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Vicente Aravena Santa María</a:t>
            </a:r>
            <a:endParaRPr b="1" i="0" sz="2000" u="none" cap="none" strike="noStrike">
              <a:solidFill>
                <a:schemeClr val="dk1"/>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Clemente Carreño Becerra</a:t>
            </a:r>
            <a:endParaRPr b="1" i="0" sz="2000" u="none" cap="none" strike="noStrike">
              <a:solidFill>
                <a:schemeClr val="dk1"/>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Benjamín Huerta Mallea</a:t>
            </a:r>
            <a:endParaRPr b="1" i="0" sz="2000" u="none" cap="none" strike="noStrike">
              <a:solidFill>
                <a:schemeClr val="dk1"/>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Bastián Ibañez Martínez</a:t>
            </a:r>
            <a:endParaRPr b="1" i="0" sz="2000" u="none" cap="none" strike="noStrike">
              <a:solidFill>
                <a:schemeClr val="dk1"/>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Joao Morales Zavaleta</a:t>
            </a:r>
            <a:endParaRPr b="1" i="0" sz="2000" u="none" cap="none" strike="noStrike">
              <a:solidFill>
                <a:schemeClr val="dk1"/>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Renato Navarro Monje</a:t>
            </a:r>
            <a:endParaRPr b="1" i="0" sz="2000" u="none" cap="none" strike="noStrike">
              <a:solidFill>
                <a:schemeClr val="dk1"/>
              </a:solidFill>
              <a:latin typeface="DM Sans"/>
              <a:ea typeface="DM Sans"/>
              <a:cs typeface="DM Sans"/>
              <a:sym typeface="DM Sans"/>
            </a:endParaRPr>
          </a:p>
          <a:p>
            <a:pPr indent="0" lvl="0" marL="0" marR="0" rtl="0" algn="just">
              <a:lnSpc>
                <a:spcPct val="100000"/>
              </a:lnSpc>
              <a:spcBef>
                <a:spcPts val="0"/>
              </a:spcBef>
              <a:spcAft>
                <a:spcPts val="0"/>
              </a:spcAft>
              <a:buClr>
                <a:schemeClr val="dk1"/>
              </a:buClr>
              <a:buSzPts val="1100"/>
              <a:buFont typeface="Arial"/>
              <a:buNone/>
            </a:pPr>
            <a:r>
              <a:rPr b="1" i="0" lang="en-US" sz="2000" u="none" cap="none" strike="noStrike">
                <a:solidFill>
                  <a:schemeClr val="dk1"/>
                </a:solidFill>
                <a:latin typeface="DM Sans"/>
                <a:ea typeface="DM Sans"/>
                <a:cs typeface="DM Sans"/>
                <a:sym typeface="DM Sans"/>
              </a:rPr>
              <a:t>Tomás Núñez Montagna</a:t>
            </a:r>
            <a:endParaRPr b="1" i="0" sz="2000" u="none" cap="none" strike="noStrike">
              <a:solidFill>
                <a:schemeClr val="dk1"/>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199"/>
              <a:buFont typeface="Arial"/>
              <a:buNone/>
            </a:pPr>
            <a:r>
              <a:rPr b="1" i="0" lang="en-US" sz="2199" u="none" cap="none" strike="noStrike">
                <a:solidFill>
                  <a:srgbClr val="606060"/>
                </a:solidFill>
                <a:latin typeface="DM Sans"/>
                <a:ea typeface="DM Sans"/>
                <a:cs typeface="DM Sans"/>
                <a:sym typeface="DM Sans"/>
              </a:rPr>
              <a:t>Profesor</a:t>
            </a:r>
            <a:endParaRPr b="1" i="0" sz="140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DM Sans"/>
                <a:ea typeface="DM Sans"/>
                <a:cs typeface="DM Sans"/>
                <a:sym typeface="DM Sans"/>
              </a:rPr>
              <a:t>Paulo Quinsacara Jofré</a:t>
            </a:r>
            <a:endParaRPr b="1" i="0" sz="2000" u="none" cap="none" strike="noStrike">
              <a:solidFill>
                <a:srgbClr val="000000"/>
              </a:solidFill>
              <a:latin typeface="DM Sans"/>
              <a:ea typeface="DM Sans"/>
              <a:cs typeface="DM Sans"/>
              <a:sym typeface="DM Sans"/>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rgbClr val="000000"/>
              </a:solidFill>
              <a:latin typeface="DM Sans"/>
              <a:ea typeface="DM Sans"/>
              <a:cs typeface="DM Sans"/>
              <a:sym typeface="DM Sans"/>
            </a:endParaRPr>
          </a:p>
          <a:p>
            <a:pPr indent="0" lvl="0" marL="0" marR="0" rtl="0" algn="l">
              <a:lnSpc>
                <a:spcPct val="140018"/>
              </a:lnSpc>
              <a:spcBef>
                <a:spcPts val="0"/>
              </a:spcBef>
              <a:spcAft>
                <a:spcPts val="0"/>
              </a:spcAft>
              <a:buClr>
                <a:srgbClr val="000000"/>
              </a:buClr>
              <a:buSzPts val="1400"/>
              <a:buFont typeface="Arial"/>
              <a:buNone/>
            </a:pPr>
            <a:r>
              <a:t/>
            </a:r>
            <a:endParaRPr b="1" i="0" sz="1400" u="none" cap="none" strike="noStrike">
              <a:solidFill>
                <a:srgbClr val="000000"/>
              </a:solidFill>
              <a:latin typeface="DM Sans"/>
              <a:ea typeface="DM Sans"/>
              <a:cs typeface="DM Sans"/>
              <a:sym typeface="DM Sans"/>
            </a:endParaRPr>
          </a:p>
        </p:txBody>
      </p:sp>
      <p:pic>
        <p:nvPicPr>
          <p:cNvPr id="87" name="Google Shape;87;p1" title="ChatGPT Image 16 jun 2026, 04_54_41 (1).png"/>
          <p:cNvPicPr preferRelativeResize="0"/>
          <p:nvPr/>
        </p:nvPicPr>
        <p:blipFill rotWithShape="1">
          <a:blip r:embed="rId4">
            <a:alphaModFix/>
          </a:blip>
          <a:srcRect b="0" l="0" r="0" t="0"/>
          <a:stretch/>
        </p:blipFill>
        <p:spPr>
          <a:xfrm>
            <a:off x="9603200" y="3429000"/>
            <a:ext cx="8684800" cy="6513600"/>
          </a:xfrm>
          <a:prstGeom prst="rect">
            <a:avLst/>
          </a:prstGeom>
          <a:noFill/>
          <a:ln>
            <a:noFill/>
          </a:ln>
          <a:effectLst>
            <a:outerShdw blurRad="757238" rotWithShape="0" algn="bl" dir="5400000" dist="352425">
              <a:srgbClr val="000000">
                <a:alpha val="38824"/>
              </a:srgbClr>
            </a:outerShdw>
          </a:effectLst>
        </p:spPr>
      </p:pic>
      <p:pic>
        <p:nvPicPr>
          <p:cNvPr id="88" name="Google Shape;88;p1" title="UNAB_horizontal.png"/>
          <p:cNvPicPr preferRelativeResize="0"/>
          <p:nvPr/>
        </p:nvPicPr>
        <p:blipFill rotWithShape="1">
          <a:blip r:embed="rId5">
            <a:alphaModFix/>
          </a:blip>
          <a:srcRect b="0" l="0" r="0" t="0"/>
          <a:stretch/>
        </p:blipFill>
        <p:spPr>
          <a:xfrm>
            <a:off x="166425" y="189175"/>
            <a:ext cx="4615199" cy="1541399"/>
          </a:xfrm>
          <a:prstGeom prst="rect">
            <a:avLst/>
          </a:prstGeom>
          <a:noFill/>
          <a:ln>
            <a:noFill/>
          </a:ln>
        </p:spPr>
      </p:pic>
      <p:sp>
        <p:nvSpPr>
          <p:cNvPr id="89" name="Google Shape;89;p1"/>
          <p:cNvSpPr txBox="1"/>
          <p:nvPr/>
        </p:nvSpPr>
        <p:spPr>
          <a:xfrm>
            <a:off x="1052975" y="1747700"/>
            <a:ext cx="11158800" cy="67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dk1"/>
                </a:solidFill>
                <a:latin typeface="DM Sans"/>
                <a:ea typeface="DM Sans"/>
                <a:cs typeface="DM Sans"/>
                <a:sym typeface="DM Sans"/>
              </a:rPr>
              <a:t>Grupo 6:</a:t>
            </a:r>
            <a:endParaRPr b="1" i="0" sz="3200" u="none" cap="none" strike="noStrike">
              <a:solidFill>
                <a:schemeClr val="dk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93" name="Shape 93"/>
        <p:cNvGrpSpPr/>
        <p:nvPr/>
      </p:nvGrpSpPr>
      <p:grpSpPr>
        <a:xfrm>
          <a:off x="0" y="0"/>
          <a:ext cx="0" cy="0"/>
          <a:chOff x="0" y="0"/>
          <a:chExt cx="0" cy="0"/>
        </a:xfrm>
      </p:grpSpPr>
      <p:sp>
        <p:nvSpPr>
          <p:cNvPr id="94" name="Google Shape;94;p3"/>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95" name="Google Shape;95;p3"/>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96" name="Google Shape;96;p3"/>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5754"/>
              <a:buFont typeface="Arial"/>
              <a:buNone/>
            </a:pPr>
            <a:r>
              <a:rPr b="1" i="0" lang="en-US" sz="5754" u="none" cap="none" strike="noStrike">
                <a:solidFill>
                  <a:schemeClr val="dk1"/>
                </a:solidFill>
                <a:latin typeface="DM Sans"/>
                <a:ea typeface="DM Sans"/>
                <a:cs typeface="DM Sans"/>
                <a:sym typeface="DM Sans"/>
              </a:rPr>
              <a:t>Índice de contenidos</a:t>
            </a:r>
            <a:endParaRPr b="1" i="0" sz="700" u="none" cap="none" strike="noStrike">
              <a:solidFill>
                <a:schemeClr val="dk1"/>
              </a:solidFill>
              <a:latin typeface="DM Sans"/>
              <a:ea typeface="DM Sans"/>
              <a:cs typeface="DM Sans"/>
              <a:sym typeface="DM Sans"/>
            </a:endParaRPr>
          </a:p>
        </p:txBody>
      </p:sp>
      <p:sp>
        <p:nvSpPr>
          <p:cNvPr id="97" name="Google Shape;97;p3"/>
          <p:cNvSpPr/>
          <p:nvPr/>
        </p:nvSpPr>
        <p:spPr>
          <a:xfrm>
            <a:off x="1017450" y="1720275"/>
            <a:ext cx="9107700" cy="83925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 name="Google Shape;98;p3"/>
          <p:cNvSpPr txBox="1"/>
          <p:nvPr/>
        </p:nvSpPr>
        <p:spPr>
          <a:xfrm>
            <a:off x="1213050" y="1887374"/>
            <a:ext cx="8716500" cy="8071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1. Contextualización: Problemática, Solución y Alcance del Incremento </a:t>
            </a:r>
            <a:r>
              <a:rPr b="1" lang="en-US" sz="2800">
                <a:solidFill>
                  <a:schemeClr val="dk1"/>
                </a:solidFill>
                <a:latin typeface="DM Sans"/>
                <a:ea typeface="DM Sans"/>
                <a:cs typeface="DM Sans"/>
                <a:sym typeface="DM Sans"/>
              </a:rPr>
              <a:t>2</a:t>
            </a:r>
            <a:r>
              <a:rPr b="1" i="0" lang="en-US" sz="2800" u="none" cap="none" strike="noStrike">
                <a:solidFill>
                  <a:schemeClr val="dk1"/>
                </a:solidFill>
                <a:latin typeface="DM Sans"/>
                <a:ea typeface="DM Sans"/>
                <a:cs typeface="DM Sans"/>
                <a:sym typeface="DM Sans"/>
              </a:rPr>
              <a:t>.</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2. Requerimiento </a:t>
            </a:r>
            <a:r>
              <a:rPr b="1" lang="en-US" sz="2800">
                <a:solidFill>
                  <a:schemeClr val="dk1"/>
                </a:solidFill>
                <a:latin typeface="DM Sans"/>
                <a:ea typeface="DM Sans"/>
                <a:cs typeface="DM Sans"/>
                <a:sym typeface="DM Sans"/>
              </a:rPr>
              <a:t>18</a:t>
            </a:r>
            <a:r>
              <a:rPr b="1" i="0" lang="en-US" sz="2800" u="none" cap="none" strike="noStrike">
                <a:solidFill>
                  <a:schemeClr val="dk1"/>
                </a:solidFill>
                <a:latin typeface="DM Sans"/>
                <a:ea typeface="DM Sans"/>
                <a:cs typeface="DM Sans"/>
                <a:sym typeface="DM Sans"/>
              </a:rPr>
              <a:t> - Caso de uso </a:t>
            </a:r>
            <a:r>
              <a:rPr b="1" lang="en-US" sz="2800">
                <a:solidFill>
                  <a:schemeClr val="dk1"/>
                </a:solidFill>
                <a:latin typeface="DM Sans"/>
                <a:ea typeface="DM Sans"/>
                <a:cs typeface="DM Sans"/>
                <a:sym typeface="DM Sans"/>
              </a:rPr>
              <a:t>18</a:t>
            </a:r>
            <a:r>
              <a:rPr b="1" i="0" lang="en-US" sz="2800" u="none" cap="none" strike="noStrike">
                <a:solidFill>
                  <a:schemeClr val="dk1"/>
                </a:solidFill>
                <a:latin typeface="DM Sans"/>
                <a:ea typeface="DM Sans"/>
                <a:cs typeface="DM Sans"/>
                <a:sym typeface="DM Sans"/>
              </a:rPr>
              <a:t>.</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3. Requerimiento </a:t>
            </a:r>
            <a:r>
              <a:rPr b="1" lang="en-US" sz="2800">
                <a:solidFill>
                  <a:schemeClr val="dk1"/>
                </a:solidFill>
                <a:latin typeface="DM Sans"/>
                <a:ea typeface="DM Sans"/>
                <a:cs typeface="DM Sans"/>
                <a:sym typeface="DM Sans"/>
              </a:rPr>
              <a:t>38</a:t>
            </a:r>
            <a:r>
              <a:rPr b="1" i="0" lang="en-US" sz="2800" u="none" cap="none" strike="noStrike">
                <a:solidFill>
                  <a:schemeClr val="dk1"/>
                </a:solidFill>
                <a:latin typeface="DM Sans"/>
                <a:ea typeface="DM Sans"/>
                <a:cs typeface="DM Sans"/>
                <a:sym typeface="DM Sans"/>
              </a:rPr>
              <a:t> - Caso de uso </a:t>
            </a:r>
            <a:r>
              <a:rPr b="1" lang="en-US" sz="2800">
                <a:solidFill>
                  <a:schemeClr val="dk1"/>
                </a:solidFill>
                <a:latin typeface="DM Sans"/>
                <a:ea typeface="DM Sans"/>
                <a:cs typeface="DM Sans"/>
                <a:sym typeface="DM Sans"/>
              </a:rPr>
              <a:t>38</a:t>
            </a:r>
            <a:r>
              <a:rPr b="1" i="0" lang="en-US" sz="2800" u="none" cap="none" strike="noStrike">
                <a:solidFill>
                  <a:schemeClr val="dk1"/>
                </a:solidFill>
                <a:latin typeface="DM Sans"/>
                <a:ea typeface="DM Sans"/>
                <a:cs typeface="DM Sans"/>
                <a:sym typeface="DM Sans"/>
              </a:rPr>
              <a:t>.</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4. Arquitectura 4 + 1.</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5-6. Vista Lógica: Modelo fisico.</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7. Vista de Desarrollo: Diagrama de Componentes.</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8. Diagrama de secuencia CU </a:t>
            </a:r>
            <a:r>
              <a:rPr b="1" lang="en-US" sz="2800">
                <a:solidFill>
                  <a:schemeClr val="dk1"/>
                </a:solidFill>
                <a:latin typeface="DM Sans"/>
                <a:ea typeface="DM Sans"/>
                <a:cs typeface="DM Sans"/>
                <a:sym typeface="DM Sans"/>
              </a:rPr>
              <a:t>18</a:t>
            </a:r>
            <a:r>
              <a:rPr b="1" i="0" lang="en-US" sz="2800" u="none" cap="none" strike="noStrike">
                <a:solidFill>
                  <a:schemeClr val="dk1"/>
                </a:solidFill>
                <a:latin typeface="DM Sans"/>
                <a:ea typeface="DM Sans"/>
                <a:cs typeface="DM Sans"/>
                <a:sym typeface="DM Sans"/>
              </a:rPr>
              <a:t> - Flujo principal.</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9. Diagrama de secuencia CU </a:t>
            </a:r>
            <a:r>
              <a:rPr b="1" lang="en-US" sz="2800">
                <a:solidFill>
                  <a:schemeClr val="dk1"/>
                </a:solidFill>
                <a:latin typeface="DM Sans"/>
                <a:ea typeface="DM Sans"/>
                <a:cs typeface="DM Sans"/>
                <a:sym typeface="DM Sans"/>
              </a:rPr>
              <a:t>38</a:t>
            </a:r>
            <a:r>
              <a:rPr b="1" i="0" lang="en-US" sz="2800" u="none" cap="none" strike="noStrike">
                <a:solidFill>
                  <a:schemeClr val="dk1"/>
                </a:solidFill>
                <a:latin typeface="DM Sans"/>
                <a:ea typeface="DM Sans"/>
                <a:cs typeface="DM Sans"/>
                <a:sym typeface="DM Sans"/>
              </a:rPr>
              <a:t> - Flujo principal.</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10. Árbol de navegación.</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11. Vistas del CU </a:t>
            </a:r>
            <a:r>
              <a:rPr b="1" lang="en-US" sz="2800">
                <a:solidFill>
                  <a:schemeClr val="dk1"/>
                </a:solidFill>
                <a:latin typeface="DM Sans"/>
                <a:ea typeface="DM Sans"/>
                <a:cs typeface="DM Sans"/>
                <a:sym typeface="DM Sans"/>
              </a:rPr>
              <a:t>18</a:t>
            </a:r>
            <a:r>
              <a:rPr b="1" i="0" lang="en-US" sz="2800" u="none" cap="none" strike="noStrike">
                <a:solidFill>
                  <a:schemeClr val="dk1"/>
                </a:solidFill>
                <a:latin typeface="DM Sans"/>
                <a:ea typeface="DM Sans"/>
                <a:cs typeface="DM Sans"/>
                <a:sym typeface="DM Sans"/>
              </a:rPr>
              <a:t>.</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12. Vistas del CU </a:t>
            </a:r>
            <a:r>
              <a:rPr b="1" lang="en-US" sz="2800">
                <a:solidFill>
                  <a:schemeClr val="dk1"/>
                </a:solidFill>
                <a:latin typeface="DM Sans"/>
                <a:ea typeface="DM Sans"/>
                <a:cs typeface="DM Sans"/>
                <a:sym typeface="DM Sans"/>
              </a:rPr>
              <a:t>38</a:t>
            </a:r>
            <a:r>
              <a:rPr b="1" i="0" lang="en-US" sz="2800" u="none" cap="none" strike="noStrike">
                <a:solidFill>
                  <a:schemeClr val="dk1"/>
                </a:solidFill>
                <a:latin typeface="DM Sans"/>
                <a:ea typeface="DM Sans"/>
                <a:cs typeface="DM Sans"/>
                <a:sym typeface="DM Sans"/>
              </a:rPr>
              <a:t>.</a:t>
            </a:r>
            <a:endParaRPr b="1" i="0" sz="2800" u="none" cap="none" strike="noStrike">
              <a:solidFill>
                <a:schemeClr val="dk1"/>
              </a:solidFill>
              <a:latin typeface="DM Sans"/>
              <a:ea typeface="DM Sans"/>
              <a:cs typeface="DM Sans"/>
              <a:sym typeface="DM Sans"/>
            </a:endParaRPr>
          </a:p>
          <a:p>
            <a:pPr indent="0" lvl="0" marL="0" marR="0" rtl="0" algn="l">
              <a:lnSpc>
                <a:spcPct val="115000"/>
              </a:lnSpc>
              <a:spcBef>
                <a:spcPts val="1200"/>
              </a:spcBef>
              <a:spcAft>
                <a:spcPts val="1200"/>
              </a:spcAft>
              <a:buClr>
                <a:srgbClr val="000000"/>
              </a:buClr>
              <a:buSzPts val="2800"/>
              <a:buFont typeface="Arial"/>
              <a:buNone/>
            </a:pPr>
            <a:r>
              <a:rPr b="1" i="0" lang="en-US" sz="2800" u="none" cap="none" strike="noStrike">
                <a:solidFill>
                  <a:schemeClr val="dk1"/>
                </a:solidFill>
                <a:latin typeface="DM Sans"/>
                <a:ea typeface="DM Sans"/>
                <a:cs typeface="DM Sans"/>
                <a:sym typeface="DM Sans"/>
              </a:rPr>
              <a:t>13. Trazabilidad Scrum ++ / Backlog.</a:t>
            </a:r>
            <a:endParaRPr b="1" i="0" sz="2798" u="none" cap="none" strike="noStrike">
              <a:solidFill>
                <a:srgbClr val="000000"/>
              </a:solidFill>
              <a:latin typeface="DM Sans"/>
              <a:ea typeface="DM Sans"/>
              <a:cs typeface="DM Sans"/>
              <a:sym typeface="DM Sans"/>
            </a:endParaRPr>
          </a:p>
        </p:txBody>
      </p:sp>
      <p:pic>
        <p:nvPicPr>
          <p:cNvPr id="99" name="Google Shape;99;p3" title="ce321285-389a-4f93-b442-cfae369974cf.png"/>
          <p:cNvPicPr preferRelativeResize="0"/>
          <p:nvPr/>
        </p:nvPicPr>
        <p:blipFill rotWithShape="1">
          <a:blip r:embed="rId4">
            <a:alphaModFix/>
          </a:blip>
          <a:srcRect b="0" l="0" r="0" t="0"/>
          <a:stretch/>
        </p:blipFill>
        <p:spPr>
          <a:xfrm>
            <a:off x="8645450" y="1424913"/>
            <a:ext cx="11155776" cy="74371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03" name="Shape 103"/>
        <p:cNvGrpSpPr/>
        <p:nvPr/>
      </p:nvGrpSpPr>
      <p:grpSpPr>
        <a:xfrm>
          <a:off x="0" y="0"/>
          <a:ext cx="0" cy="0"/>
          <a:chOff x="0" y="0"/>
          <a:chExt cx="0" cy="0"/>
        </a:xfrm>
      </p:grpSpPr>
      <p:sp>
        <p:nvSpPr>
          <p:cNvPr id="104" name="Google Shape;104;g3ec4c662846_0_189"/>
          <p:cNvSpPr/>
          <p:nvPr/>
        </p:nvSpPr>
        <p:spPr>
          <a:xfrm flipH="1" rot="3509744">
            <a:off x="-12257000" y="-2251249"/>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05" name="Google Shape;105;g3ec4c662846_0_189"/>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06" name="Google Shape;106;g3ec4c662846_0_189"/>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5754"/>
              <a:buFont typeface="Arial"/>
              <a:buNone/>
            </a:pPr>
            <a:r>
              <a:rPr b="1" i="0" lang="en-US" sz="5754" u="none" cap="none" strike="noStrike">
                <a:solidFill>
                  <a:schemeClr val="dk1"/>
                </a:solidFill>
                <a:latin typeface="DM Sans"/>
                <a:ea typeface="DM Sans"/>
                <a:cs typeface="DM Sans"/>
                <a:sym typeface="DM Sans"/>
              </a:rPr>
              <a:t>Contextualización</a:t>
            </a:r>
            <a:endParaRPr b="1" i="0" sz="700" u="none" cap="none" strike="noStrike">
              <a:solidFill>
                <a:schemeClr val="dk1"/>
              </a:solidFill>
              <a:latin typeface="DM Sans"/>
              <a:ea typeface="DM Sans"/>
              <a:cs typeface="DM Sans"/>
              <a:sym typeface="DM Sans"/>
            </a:endParaRPr>
          </a:p>
        </p:txBody>
      </p:sp>
      <p:sp>
        <p:nvSpPr>
          <p:cNvPr id="107" name="Google Shape;107;g3ec4c662846_0_189"/>
          <p:cNvSpPr/>
          <p:nvPr/>
        </p:nvSpPr>
        <p:spPr>
          <a:xfrm>
            <a:off x="1017450" y="1720275"/>
            <a:ext cx="9107700" cy="24135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g3ec4c662846_0_189"/>
          <p:cNvSpPr txBox="1"/>
          <p:nvPr/>
        </p:nvSpPr>
        <p:spPr>
          <a:xfrm>
            <a:off x="1213050" y="1887375"/>
            <a:ext cx="8763300" cy="2154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1200"/>
              </a:spcAft>
              <a:buClr>
                <a:srgbClr val="000000"/>
              </a:buClr>
              <a:buSzPts val="2500"/>
              <a:buFont typeface="Arial"/>
              <a:buNone/>
            </a:pPr>
            <a:r>
              <a:rPr b="1" i="0" lang="en-US" sz="2500" u="none" cap="none" strike="noStrike">
                <a:solidFill>
                  <a:schemeClr val="dk1"/>
                </a:solidFill>
                <a:latin typeface="DM Sans"/>
                <a:ea typeface="DM Sans"/>
                <a:cs typeface="DM Sans"/>
                <a:sym typeface="DM Sans"/>
              </a:rPr>
              <a:t>Problemática: </a:t>
            </a:r>
            <a:r>
              <a:rPr lang="en-US" sz="2500">
                <a:solidFill>
                  <a:schemeClr val="dk1"/>
                </a:solidFill>
                <a:latin typeface="DM Sans"/>
                <a:ea typeface="DM Sans"/>
                <a:cs typeface="DM Sans"/>
                <a:sym typeface="DM Sans"/>
              </a:rPr>
              <a:t>El Minimarket y Panadería Huáscar presenta dificultades en la gestión de inventario, ventas y trabajadores, debido al uso de procesos manuales y a la falta de información centralizada y confiable para apoyar la operación diaria.</a:t>
            </a:r>
            <a:endParaRPr b="0" i="0" sz="2500" u="none" cap="none" strike="noStrike">
              <a:solidFill>
                <a:srgbClr val="000000"/>
              </a:solidFill>
              <a:latin typeface="DM Sans"/>
              <a:ea typeface="DM Sans"/>
              <a:cs typeface="DM Sans"/>
              <a:sym typeface="DM Sans"/>
            </a:endParaRPr>
          </a:p>
        </p:txBody>
      </p:sp>
      <p:sp>
        <p:nvSpPr>
          <p:cNvPr id="109" name="Google Shape;109;g3ec4c662846_0_189"/>
          <p:cNvSpPr/>
          <p:nvPr/>
        </p:nvSpPr>
        <p:spPr>
          <a:xfrm>
            <a:off x="1040850" y="4351975"/>
            <a:ext cx="9107700" cy="15327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g3ec4c662846_0_189"/>
          <p:cNvSpPr txBox="1"/>
          <p:nvPr/>
        </p:nvSpPr>
        <p:spPr>
          <a:xfrm>
            <a:off x="1236450" y="4519075"/>
            <a:ext cx="8763300" cy="1154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00"/>
              <a:buFont typeface="Arial"/>
              <a:buNone/>
            </a:pPr>
            <a:r>
              <a:rPr b="1" i="0" lang="en-US" sz="2500" u="none" cap="none" strike="noStrike">
                <a:solidFill>
                  <a:schemeClr val="dk1"/>
                </a:solidFill>
                <a:latin typeface="DM Sans"/>
                <a:ea typeface="DM Sans"/>
                <a:cs typeface="DM Sans"/>
                <a:sym typeface="DM Sans"/>
              </a:rPr>
              <a:t>Solución: </a:t>
            </a:r>
            <a:r>
              <a:rPr b="0" i="0" lang="en-US" sz="2500" u="none" cap="none" strike="noStrike">
                <a:solidFill>
                  <a:schemeClr val="dk1"/>
                </a:solidFill>
                <a:latin typeface="DM Sans"/>
                <a:ea typeface="DM Sans"/>
                <a:cs typeface="DM Sans"/>
                <a:sym typeface="DM Sans"/>
              </a:rPr>
              <a:t>Sistema de de escritorio offline-first en Electron y Node.js para la gestión de inventario, venta y trabajadores.</a:t>
            </a:r>
            <a:endParaRPr b="0" i="0" sz="2500" u="none" cap="none" strike="noStrike">
              <a:solidFill>
                <a:srgbClr val="000000"/>
              </a:solidFill>
              <a:latin typeface="DM Sans"/>
              <a:ea typeface="DM Sans"/>
              <a:cs typeface="DM Sans"/>
              <a:sym typeface="DM Sans"/>
            </a:endParaRPr>
          </a:p>
        </p:txBody>
      </p:sp>
      <p:sp>
        <p:nvSpPr>
          <p:cNvPr id="111" name="Google Shape;111;g3ec4c662846_0_189"/>
          <p:cNvSpPr/>
          <p:nvPr/>
        </p:nvSpPr>
        <p:spPr>
          <a:xfrm>
            <a:off x="1017450" y="6439175"/>
            <a:ext cx="9107700" cy="2574900"/>
          </a:xfrm>
          <a:prstGeom prst="roundRect">
            <a:avLst>
              <a:gd fmla="val 3636" name="adj"/>
            </a:avLst>
          </a:prstGeom>
          <a:solidFill>
            <a:srgbClr val="EAEBEC"/>
          </a:solidFill>
          <a:ln cap="flat" cmpd="sng" w="19050">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ec4c662846_0_189"/>
          <p:cNvSpPr txBox="1"/>
          <p:nvPr/>
        </p:nvSpPr>
        <p:spPr>
          <a:xfrm>
            <a:off x="1213050" y="6606275"/>
            <a:ext cx="8763300" cy="2308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1100"/>
              <a:buFont typeface="Arial"/>
              <a:buNone/>
            </a:pPr>
            <a:r>
              <a:rPr b="1" i="0" lang="en-US" sz="2500" u="none" cap="none" strike="noStrike">
                <a:solidFill>
                  <a:schemeClr val="dk1"/>
                </a:solidFill>
                <a:latin typeface="DM Sans"/>
                <a:ea typeface="DM Sans"/>
                <a:cs typeface="DM Sans"/>
                <a:sym typeface="DM Sans"/>
              </a:rPr>
              <a:t>Alcance del Incremento </a:t>
            </a:r>
            <a:r>
              <a:rPr b="1" lang="en-US" sz="2500">
                <a:solidFill>
                  <a:schemeClr val="dk1"/>
                </a:solidFill>
                <a:latin typeface="DM Sans"/>
                <a:ea typeface="DM Sans"/>
                <a:cs typeface="DM Sans"/>
                <a:sym typeface="DM Sans"/>
              </a:rPr>
              <a:t>2</a:t>
            </a:r>
            <a:r>
              <a:rPr b="1" i="0" lang="en-US" sz="2500" u="none" cap="none" strike="noStrike">
                <a:solidFill>
                  <a:schemeClr val="dk1"/>
                </a:solidFill>
                <a:latin typeface="DM Sans"/>
                <a:ea typeface="DM Sans"/>
                <a:cs typeface="DM Sans"/>
                <a:sym typeface="DM Sans"/>
              </a:rPr>
              <a:t>: </a:t>
            </a:r>
            <a:r>
              <a:rPr lang="en-US" sz="2500">
                <a:solidFill>
                  <a:schemeClr val="dk1"/>
                </a:solidFill>
                <a:latin typeface="DM Sans"/>
                <a:ea typeface="DM Sans"/>
                <a:cs typeface="DM Sans"/>
                <a:sym typeface="DM Sans"/>
              </a:rPr>
              <a:t>Durante el Incremento 2 se incorporan 25 requerimientos funcionales, equivalentes al 40,3 % del proyecto. Sumados a los 19 RF desarrollados en el Incremento 1, el sistema alcanza 44 de 62 requerimientos funcionales, correspondientes a un 71 % de avance acumulado.</a:t>
            </a:r>
            <a:endParaRPr b="0" i="0" sz="2500" u="none" cap="none" strike="noStrike">
              <a:solidFill>
                <a:srgbClr val="000000"/>
              </a:solidFill>
              <a:latin typeface="DM Sans"/>
              <a:ea typeface="DM Sans"/>
              <a:cs typeface="DM Sans"/>
              <a:sym typeface="DM Sans"/>
            </a:endParaRPr>
          </a:p>
        </p:txBody>
      </p:sp>
      <p:pic>
        <p:nvPicPr>
          <p:cNvPr id="113" name="Google Shape;113;g3ec4c662846_0_189" title="ChatGPT Image 16 jun 2026, 06_58_20 (1).png"/>
          <p:cNvPicPr preferRelativeResize="0"/>
          <p:nvPr/>
        </p:nvPicPr>
        <p:blipFill rotWithShape="1">
          <a:blip r:embed="rId4">
            <a:alphaModFix/>
          </a:blip>
          <a:srcRect b="1730" l="0" r="0" t="-1730"/>
          <a:stretch/>
        </p:blipFill>
        <p:spPr>
          <a:xfrm>
            <a:off x="9827100" y="2428587"/>
            <a:ext cx="8460899" cy="6345674"/>
          </a:xfrm>
          <a:prstGeom prst="rect">
            <a:avLst/>
          </a:prstGeom>
          <a:noFill/>
          <a:ln>
            <a:noFill/>
          </a:ln>
        </p:spPr>
      </p:pic>
      <p:sp>
        <p:nvSpPr>
          <p:cNvPr id="114" name="Google Shape;114;g3ec4c662846_0_189"/>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1</a:t>
            </a:r>
            <a:endParaRPr b="0" i="0" sz="3400" u="none" cap="none" strike="noStrike">
              <a:solidFill>
                <a:schemeClr val="lt1"/>
              </a:solidFill>
              <a:latin typeface="DM Sans Black"/>
              <a:ea typeface="DM Sans Black"/>
              <a:cs typeface="DM Sans Black"/>
              <a:sym typeface="DM Sans Black"/>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18" name="Shape 118"/>
        <p:cNvGrpSpPr/>
        <p:nvPr/>
      </p:nvGrpSpPr>
      <p:grpSpPr>
        <a:xfrm>
          <a:off x="0" y="0"/>
          <a:ext cx="0" cy="0"/>
          <a:chOff x="0" y="0"/>
          <a:chExt cx="0" cy="0"/>
        </a:xfrm>
      </p:grpSpPr>
      <p:sp>
        <p:nvSpPr>
          <p:cNvPr id="119" name="Google Shape;119;g3ec4c662846_0_201"/>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20" name="Google Shape;120;g3ec4c662846_0_201"/>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21" name="Google Shape;121;g3ec4c662846_0_201"/>
          <p:cNvSpPr txBox="1"/>
          <p:nvPr/>
        </p:nvSpPr>
        <p:spPr>
          <a:xfrm>
            <a:off x="1010250" y="307100"/>
            <a:ext cx="16267500" cy="8088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700" u="none" cap="none" strike="noStrike">
                <a:solidFill>
                  <a:srgbClr val="000000"/>
                </a:solidFill>
                <a:latin typeface="DM Sans"/>
                <a:ea typeface="DM Sans"/>
                <a:cs typeface="DM Sans"/>
                <a:sym typeface="DM Sans"/>
              </a:rPr>
              <a:t>Requerimiento 18 - CU </a:t>
            </a:r>
            <a:r>
              <a:rPr b="1" lang="en-US" sz="4700">
                <a:latin typeface="DM Sans"/>
                <a:ea typeface="DM Sans"/>
                <a:cs typeface="DM Sans"/>
                <a:sym typeface="DM Sans"/>
              </a:rPr>
              <a:t>18</a:t>
            </a:r>
            <a:r>
              <a:rPr b="1" i="0" lang="en-US" sz="4700" u="none" cap="none" strike="noStrike">
                <a:solidFill>
                  <a:srgbClr val="000000"/>
                </a:solidFill>
                <a:latin typeface="DM Sans"/>
                <a:ea typeface="DM Sans"/>
                <a:cs typeface="DM Sans"/>
                <a:sym typeface="DM Sans"/>
              </a:rPr>
              <a:t> - Registrando nuevo producto</a:t>
            </a:r>
            <a:r>
              <a:rPr b="1" i="0" lang="en-US" sz="5254" u="none" cap="none" strike="noStrike">
                <a:solidFill>
                  <a:srgbClr val="000000"/>
                </a:solidFill>
                <a:latin typeface="DM Sans"/>
                <a:ea typeface="DM Sans"/>
                <a:cs typeface="DM Sans"/>
                <a:sym typeface="DM Sans"/>
              </a:rPr>
              <a:t> </a:t>
            </a:r>
            <a:endParaRPr b="1" i="0" sz="200" u="none" cap="none" strike="noStrike">
              <a:solidFill>
                <a:srgbClr val="000000"/>
              </a:solidFill>
              <a:latin typeface="DM Sans"/>
              <a:ea typeface="DM Sans"/>
              <a:cs typeface="DM Sans"/>
              <a:sym typeface="DM Sans"/>
            </a:endParaRPr>
          </a:p>
        </p:txBody>
      </p:sp>
      <p:sp>
        <p:nvSpPr>
          <p:cNvPr id="122" name="Google Shape;122;g3ec4c662846_0_201"/>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2</a:t>
            </a:r>
            <a:endParaRPr b="0" i="0" sz="3400" u="none" cap="none" strike="noStrike">
              <a:solidFill>
                <a:schemeClr val="lt1"/>
              </a:solidFill>
              <a:latin typeface="DM Sans Black"/>
              <a:ea typeface="DM Sans Black"/>
              <a:cs typeface="DM Sans Black"/>
              <a:sym typeface="DM Sans Black"/>
            </a:endParaRPr>
          </a:p>
        </p:txBody>
      </p:sp>
      <p:graphicFrame>
        <p:nvGraphicFramePr>
          <p:cNvPr id="123" name="Google Shape;123;g3ec4c662846_0_201"/>
          <p:cNvGraphicFramePr/>
          <p:nvPr/>
        </p:nvGraphicFramePr>
        <p:xfrm>
          <a:off x="1010250" y="1186025"/>
          <a:ext cx="3000000" cy="3000000"/>
        </p:xfrm>
        <a:graphic>
          <a:graphicData uri="http://schemas.openxmlformats.org/drawingml/2006/table">
            <a:tbl>
              <a:tblPr>
                <a:noFill/>
                <a:tableStyleId>{4A316D23-DD11-486A-8A6B-3A806BA581AD}</a:tableStyleId>
              </a:tblPr>
              <a:tblGrid>
                <a:gridCol w="1165675"/>
                <a:gridCol w="5439775"/>
                <a:gridCol w="1554225"/>
                <a:gridCol w="1580125"/>
                <a:gridCol w="1735550"/>
                <a:gridCol w="1502400"/>
                <a:gridCol w="2150000"/>
                <a:gridCol w="1139750"/>
              </a:tblGrid>
              <a:tr h="688150">
                <a:tc>
                  <a:txBody>
                    <a:bodyPr/>
                    <a:lstStyle/>
                    <a:p>
                      <a:pPr indent="0" lvl="0" marL="0" marR="0" rtl="0" algn="ctr">
                        <a:lnSpc>
                          <a:spcPct val="10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ID</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Descripción</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Necesidad</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Prioridad</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Estabilidad</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Claridad</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000" u="none" cap="none" strike="noStrike">
                          <a:solidFill>
                            <a:srgbClr val="FFFFFF"/>
                          </a:solidFill>
                          <a:latin typeface="Times New Roman"/>
                          <a:ea typeface="Times New Roman"/>
                          <a:cs typeface="Times New Roman"/>
                          <a:sym typeface="Times New Roman"/>
                        </a:rPr>
                        <a:t>Verificabilidad</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500" u="none" cap="none" strike="noStrike">
                          <a:solidFill>
                            <a:srgbClr val="FFFFFF"/>
                          </a:solidFill>
                          <a:latin typeface="Times New Roman"/>
                          <a:ea typeface="Times New Roman"/>
                          <a:cs typeface="Times New Roman"/>
                          <a:sym typeface="Times New Roman"/>
                        </a:rPr>
                        <a:t>Fuente</a:t>
                      </a:r>
                      <a:endParaRPr sz="25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r>
              <a:tr h="225800">
                <a:tc gridSpan="8">
                  <a:txBody>
                    <a:bodyPr/>
                    <a:lstStyle/>
                    <a:p>
                      <a:pPr indent="0" lvl="0" marL="0" marR="0" rtl="0" algn="l">
                        <a:lnSpc>
                          <a:spcPct val="100000"/>
                        </a:lnSpc>
                        <a:spcBef>
                          <a:spcPts val="0"/>
                        </a:spcBef>
                        <a:spcAft>
                          <a:spcPts val="0"/>
                        </a:spcAft>
                        <a:buClr>
                          <a:srgbClr val="000000"/>
                        </a:buClr>
                        <a:buSzPts val="2500"/>
                        <a:buFont typeface="Arial"/>
                        <a:buNone/>
                      </a:pPr>
                      <a:r>
                        <a:rPr b="1" lang="en-US" sz="2000">
                          <a:solidFill>
                            <a:srgbClr val="FFFFFF"/>
                          </a:solidFill>
                          <a:latin typeface="Times New Roman"/>
                          <a:ea typeface="Times New Roman"/>
                          <a:cs typeface="Times New Roman"/>
                          <a:sym typeface="Times New Roman"/>
                        </a:rPr>
                        <a:t>2</a:t>
                      </a:r>
                      <a:r>
                        <a:rPr b="1" lang="en-US" sz="2000" u="none" cap="none" strike="noStrike">
                          <a:solidFill>
                            <a:srgbClr val="FFFFFF"/>
                          </a:solidFill>
                          <a:latin typeface="Times New Roman"/>
                          <a:ea typeface="Times New Roman"/>
                          <a:cs typeface="Times New Roman"/>
                          <a:sym typeface="Times New Roman"/>
                        </a:rPr>
                        <a:t>.- GESTIÓN D</a:t>
                      </a:r>
                      <a:r>
                        <a:rPr b="1" lang="en-US" sz="2000">
                          <a:solidFill>
                            <a:srgbClr val="FFFFFF"/>
                          </a:solidFill>
                          <a:latin typeface="Times New Roman"/>
                          <a:ea typeface="Times New Roman"/>
                          <a:cs typeface="Times New Roman"/>
                          <a:sym typeface="Times New Roman"/>
                        </a:rPr>
                        <a:t>E PROVEEDORES</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2E75B6"/>
                    </a:solidFill>
                  </a:tcPr>
                </a:tc>
                <a:tc hMerge="1"/>
                <a:tc hMerge="1"/>
                <a:tc hMerge="1"/>
                <a:tc hMerge="1"/>
                <a:tc hMerge="1"/>
                <a:tc hMerge="1"/>
                <a:tc hMerge="1"/>
              </a:tr>
              <a:tr h="338900">
                <a:tc>
                  <a:txBody>
                    <a:bodyPr/>
                    <a:lstStyle/>
                    <a:p>
                      <a:pPr indent="0" lvl="0" marL="0" marR="0" rtl="0" algn="ctr">
                        <a:lnSpc>
                          <a:spcPct val="100000"/>
                        </a:lnSpc>
                        <a:spcBef>
                          <a:spcPts val="0"/>
                        </a:spcBef>
                        <a:spcAft>
                          <a:spcPts val="0"/>
                        </a:spcAft>
                        <a:buClr>
                          <a:srgbClr val="000000"/>
                        </a:buClr>
                        <a:buSzPts val="2500"/>
                        <a:buFont typeface="Arial"/>
                        <a:buNone/>
                      </a:pPr>
                      <a:r>
                        <a:rPr b="1" lang="en-US" sz="2000">
                          <a:solidFill>
                            <a:srgbClr val="1F3864"/>
                          </a:solidFill>
                          <a:latin typeface="Times New Roman"/>
                          <a:ea typeface="Times New Roman"/>
                          <a:cs typeface="Times New Roman"/>
                          <a:sym typeface="Times New Roman"/>
                        </a:rPr>
                        <a:t>2.6</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l">
                        <a:lnSpc>
                          <a:spcPct val="100000"/>
                        </a:lnSpc>
                        <a:spcBef>
                          <a:spcPts val="0"/>
                        </a:spcBef>
                        <a:spcAft>
                          <a:spcPts val="0"/>
                        </a:spcAft>
                        <a:buClr>
                          <a:srgbClr val="000000"/>
                        </a:buClr>
                        <a:buSzPts val="2500"/>
                        <a:buFont typeface="Arial"/>
                        <a:buNone/>
                      </a:pPr>
                      <a:r>
                        <a:rPr b="1" lang="en-US" sz="2000">
                          <a:solidFill>
                            <a:srgbClr val="1F3864"/>
                          </a:solidFill>
                          <a:latin typeface="Times New Roman"/>
                          <a:ea typeface="Times New Roman"/>
                          <a:cs typeface="Times New Roman"/>
                          <a:sym typeface="Times New Roman"/>
                        </a:rPr>
                        <a:t>Confirmación de Recepción de Pedido</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000" u="none" cap="none" strike="noStrike">
                          <a:solidFill>
                            <a:srgbClr val="1F3864"/>
                          </a:solidFill>
                          <a:latin typeface="Times New Roman"/>
                          <a:ea typeface="Times New Roman"/>
                          <a:cs typeface="Times New Roman"/>
                          <a:sym typeface="Times New Roman"/>
                        </a:rPr>
                        <a:t>1</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000">
                          <a:solidFill>
                            <a:srgbClr val="1F3864"/>
                          </a:solidFill>
                          <a:latin typeface="Times New Roman"/>
                          <a:ea typeface="Times New Roman"/>
                          <a:cs typeface="Times New Roman"/>
                          <a:sym typeface="Times New Roman"/>
                        </a:rPr>
                        <a:t>2</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000">
                          <a:solidFill>
                            <a:srgbClr val="1F3864"/>
                          </a:solidFill>
                          <a:latin typeface="Times New Roman"/>
                          <a:ea typeface="Times New Roman"/>
                          <a:cs typeface="Times New Roman"/>
                          <a:sym typeface="Times New Roman"/>
                        </a:rPr>
                        <a:t>2</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000" u="none" cap="none" strike="noStrike">
                          <a:solidFill>
                            <a:srgbClr val="1F3864"/>
                          </a:solidFill>
                          <a:latin typeface="Times New Roman"/>
                          <a:ea typeface="Times New Roman"/>
                          <a:cs typeface="Times New Roman"/>
                          <a:sym typeface="Times New Roman"/>
                        </a:rPr>
                        <a:t>1</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000" u="none" cap="none" strike="noStrike">
                          <a:solidFill>
                            <a:srgbClr val="1F3864"/>
                          </a:solidFill>
                          <a:latin typeface="Times New Roman"/>
                          <a:ea typeface="Times New Roman"/>
                          <a:cs typeface="Times New Roman"/>
                          <a:sym typeface="Times New Roman"/>
                        </a:rPr>
                        <a:t>1</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500" u="none" cap="none" strike="noStrike">
                          <a:solidFill>
                            <a:srgbClr val="1F3864"/>
                          </a:solidFill>
                          <a:latin typeface="Times New Roman"/>
                          <a:ea typeface="Times New Roman"/>
                          <a:cs typeface="Times New Roman"/>
                          <a:sym typeface="Times New Roman"/>
                        </a:rPr>
                        <a:t>1</a:t>
                      </a:r>
                      <a:endParaRPr sz="25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r>
              <a:tr h="2033475">
                <a:tc>
                  <a:txBody>
                    <a:bodyPr/>
                    <a:lstStyle/>
                    <a:p>
                      <a:pPr indent="0" lvl="0" marL="0" marR="0" rtl="0" algn="ctr">
                        <a:lnSpc>
                          <a:spcPct val="100000"/>
                        </a:lnSpc>
                        <a:spcBef>
                          <a:spcPts val="0"/>
                        </a:spcBef>
                        <a:spcAft>
                          <a:spcPts val="0"/>
                        </a:spcAft>
                        <a:buClr>
                          <a:srgbClr val="000000"/>
                        </a:buClr>
                        <a:buSzPts val="2500"/>
                        <a:buFont typeface="Arial"/>
                        <a:buNone/>
                      </a:pPr>
                      <a:r>
                        <a:rPr b="1" lang="en-US" sz="2000" u="none" cap="none" strike="noStrike">
                          <a:solidFill>
                            <a:srgbClr val="1F3864"/>
                          </a:solidFill>
                          <a:latin typeface="Times New Roman"/>
                          <a:ea typeface="Times New Roman"/>
                          <a:cs typeface="Times New Roman"/>
                          <a:sym typeface="Times New Roman"/>
                        </a:rPr>
                        <a:t>RF</a:t>
                      </a:r>
                      <a:r>
                        <a:rPr b="1" lang="en-US" sz="2000">
                          <a:solidFill>
                            <a:srgbClr val="1F3864"/>
                          </a:solidFill>
                          <a:latin typeface="Times New Roman"/>
                          <a:ea typeface="Times New Roman"/>
                          <a:cs typeface="Times New Roman"/>
                          <a:sym typeface="Times New Roman"/>
                        </a:rPr>
                        <a:t>18</a:t>
                      </a:r>
                      <a:endParaRPr sz="20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gridSpan="7">
                  <a:txBody>
                    <a:bodyPr/>
                    <a:lstStyle/>
                    <a:p>
                      <a:pPr indent="0" lvl="0" marL="0" rtl="0" algn="l">
                        <a:lnSpc>
                          <a:spcPct val="150000"/>
                        </a:lnSpc>
                        <a:spcBef>
                          <a:spcPts val="0"/>
                        </a:spcBef>
                        <a:spcAft>
                          <a:spcPts val="0"/>
                        </a:spcAft>
                        <a:buClr>
                          <a:schemeClr val="dk1"/>
                        </a:buClr>
                        <a:buSzPts val="1100"/>
                        <a:buFont typeface="Arial"/>
                        <a:buNone/>
                      </a:pPr>
                      <a:r>
                        <a:rPr i="1" lang="en-US" sz="1500">
                          <a:solidFill>
                            <a:schemeClr val="dk1"/>
                          </a:solidFill>
                          <a:latin typeface="Times New Roman"/>
                          <a:ea typeface="Times New Roman"/>
                          <a:cs typeface="Times New Roman"/>
                          <a:sym typeface="Times New Roman"/>
                        </a:rPr>
                        <a:t>El sistema debe permitir al Dueño o Trabajador registrar recepciones sucesivas de un pedido Pendiente o Recibido parcialmente con saldo abierto. Por producto debe mostrar solicitado, recibido acumulado y pendiente; la cantidad ingresada corresponde a esta entrega y debe ser entera entre cero y el saldo pendiente, con al menos una línea positiva. Por cada cantidad positiva debe solicitar costo y vencimiento cuando corresponda, crear los lotes y conservar fecha, hora, responsable y detalle de la entrega. Debe acumular lo recibido y dejar el pedido Recibido al completar todas las cantidades o Recibido parcialmente si quedan pendientes. Debe permitir cancelar un pedido sin recepciones, sin generar lotes ni movimientos. Para un pedido parcial cuyo faltante no llegará, debe permitir Cerrar saldo pendiente con motivo y confirmación, registrando fecha, hora y responsable. Este cierre deja el pedido Cerrado con recepción parcial, conserva cantidades, lotes e historial, no modifica inventario e impide nuevas recepciones.</a:t>
                      </a:r>
                      <a:endParaRPr i="1" sz="21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hMerge="1"/>
                <a:tc hMerge="1"/>
                <a:tc hMerge="1"/>
              </a:tr>
            </a:tbl>
          </a:graphicData>
        </a:graphic>
      </p:graphicFrame>
      <p:graphicFrame>
        <p:nvGraphicFramePr>
          <p:cNvPr id="124" name="Google Shape;124;g3ec4c662846_0_201"/>
          <p:cNvGraphicFramePr/>
          <p:nvPr/>
        </p:nvGraphicFramePr>
        <p:xfrm>
          <a:off x="2179138" y="4663525"/>
          <a:ext cx="3000000" cy="3000000"/>
        </p:xfrm>
        <a:graphic>
          <a:graphicData uri="http://schemas.openxmlformats.org/drawingml/2006/table">
            <a:tbl>
              <a:tblPr>
                <a:noFill/>
                <a:tableStyleId>{4D4D5184-4199-43EA-A614-1320DFF9D65E}</a:tableStyleId>
              </a:tblPr>
              <a:tblGrid>
                <a:gridCol w="2330750"/>
                <a:gridCol w="5276350"/>
                <a:gridCol w="6322625"/>
              </a:tblGrid>
              <a:tr h="246350">
                <a:tc gridSpan="2">
                  <a:txBody>
                    <a:bodyPr/>
                    <a:lstStyle/>
                    <a:p>
                      <a:pPr indent="0" lvl="0" marL="0" rtl="0" algn="ctr">
                        <a:lnSpc>
                          <a:spcPct val="115000"/>
                        </a:lnSpc>
                        <a:spcBef>
                          <a:spcPts val="0"/>
                        </a:spcBef>
                        <a:spcAft>
                          <a:spcPts val="0"/>
                        </a:spcAft>
                        <a:buNone/>
                      </a:pPr>
                      <a:r>
                        <a:rPr b="1" lang="en-US" sz="3200">
                          <a:solidFill>
                            <a:srgbClr val="FFFFFF"/>
                          </a:solidFill>
                        </a:rPr>
                        <a:t>Ficha Caso de uso</a:t>
                      </a:r>
                      <a:endParaRPr b="1" sz="3200">
                        <a:solidFill>
                          <a:srgbClr val="FFFFFF"/>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1F5C8B"/>
                    </a:solidFill>
                  </a:tcPr>
                </a:tc>
                <a:tc hMerge="1"/>
                <a:tc>
                  <a:txBody>
                    <a:bodyPr/>
                    <a:lstStyle/>
                    <a:p>
                      <a:pPr indent="0" lvl="0" marL="0" rtl="0" algn="ctr">
                        <a:lnSpc>
                          <a:spcPct val="115000"/>
                        </a:lnSpc>
                        <a:spcBef>
                          <a:spcPts val="0"/>
                        </a:spcBef>
                        <a:spcAft>
                          <a:spcPts val="0"/>
                        </a:spcAft>
                        <a:buNone/>
                      </a:pPr>
                      <a:r>
                        <a:rPr b="1" lang="en-US" sz="3200">
                          <a:solidFill>
                            <a:srgbClr val="FFFFFF"/>
                          </a:solidFill>
                        </a:rPr>
                        <a:t>Descripción del caso de uso</a:t>
                      </a:r>
                      <a:endParaRPr b="1" sz="3200">
                        <a:solidFill>
                          <a:srgbClr val="FFFFFF"/>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1F5C8B"/>
                    </a:solidFill>
                  </a:tcPr>
                </a:tc>
              </a:tr>
              <a:tr h="532975">
                <a:tc>
                  <a:txBody>
                    <a:bodyPr/>
                    <a:lstStyle/>
                    <a:p>
                      <a:pPr indent="0" lvl="0" marL="0" rtl="0" algn="l">
                        <a:lnSpc>
                          <a:spcPct val="115000"/>
                        </a:lnSpc>
                        <a:spcBef>
                          <a:spcPts val="0"/>
                        </a:spcBef>
                        <a:spcAft>
                          <a:spcPts val="0"/>
                        </a:spcAft>
                        <a:buNone/>
                      </a:pPr>
                      <a:r>
                        <a:rPr b="1" lang="en-US" sz="2100">
                          <a:solidFill>
                            <a:srgbClr val="1F4E79"/>
                          </a:solidFill>
                        </a:rPr>
                        <a:t>Actor(es)</a:t>
                      </a:r>
                      <a:endParaRPr b="1" sz="21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100">
                          <a:solidFill>
                            <a:srgbClr val="1A1A1A"/>
                          </a:solidFill>
                        </a:rPr>
                        <a:t>Dueño, Trabajador</a:t>
                      </a:r>
                      <a:endParaRPr sz="21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rowSpan="5">
                  <a:txBody>
                    <a:bodyPr/>
                    <a:lstStyle/>
                    <a:p>
                      <a:pPr indent="0" lvl="0" marL="0" rtl="0" algn="l">
                        <a:lnSpc>
                          <a:spcPct val="115000"/>
                        </a:lnSpc>
                        <a:spcBef>
                          <a:spcPts val="0"/>
                        </a:spcBef>
                        <a:spcAft>
                          <a:spcPts val="0"/>
                        </a:spcAft>
                        <a:buNone/>
                      </a:pPr>
                      <a:r>
                        <a:rPr lang="en-US" sz="2200">
                          <a:solidFill>
                            <a:srgbClr val="1A1A1A"/>
                          </a:solidFill>
                        </a:rPr>
                        <a:t>El caso de uso 18 permite que el ‘Dueño’ o ‘Trabajador’ registre entregas sucesivas de un pedido pendiente o parcialmente recibido, ingresando las cantidades, el costo y la fecha de vencimiento correspondientes. El sistema valida que las cantidades sean correctas, genera los lotes y acumula lo recibido hasta dejar el pedido como Recibido o Recibido parcialmente, sin permitir nuevas recepciones sobre pedidos ya cerrados o cancelados.</a:t>
                      </a:r>
                      <a:endParaRPr sz="22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7E6E6"/>
                    </a:solidFill>
                  </a:tcPr>
                </a:tc>
              </a:tr>
              <a:tr h="904225">
                <a:tc>
                  <a:txBody>
                    <a:bodyPr/>
                    <a:lstStyle/>
                    <a:p>
                      <a:pPr indent="0" lvl="0" marL="0" rtl="0" algn="l">
                        <a:lnSpc>
                          <a:spcPct val="115000"/>
                        </a:lnSpc>
                        <a:spcBef>
                          <a:spcPts val="0"/>
                        </a:spcBef>
                        <a:spcAft>
                          <a:spcPts val="0"/>
                        </a:spcAft>
                        <a:buNone/>
                      </a:pPr>
                      <a:r>
                        <a:rPr b="1" lang="en-US" sz="2100">
                          <a:solidFill>
                            <a:srgbClr val="1F4E79"/>
                          </a:solidFill>
                        </a:rPr>
                        <a:t>Frecuencia</a:t>
                      </a:r>
                      <a:endParaRPr b="1" sz="21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100">
                          <a:solidFill>
                            <a:srgbClr val="1A1A1A"/>
                          </a:solidFill>
                        </a:rPr>
                        <a:t>Cuando llega mercadería de un proveedor con pedido previo.</a:t>
                      </a:r>
                      <a:endParaRPr sz="21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r h="1339950">
                <a:tc>
                  <a:txBody>
                    <a:bodyPr/>
                    <a:lstStyle/>
                    <a:p>
                      <a:pPr indent="0" lvl="0" marL="0" rtl="0" algn="l">
                        <a:lnSpc>
                          <a:spcPct val="115000"/>
                        </a:lnSpc>
                        <a:spcBef>
                          <a:spcPts val="0"/>
                        </a:spcBef>
                        <a:spcAft>
                          <a:spcPts val="0"/>
                        </a:spcAft>
                        <a:buNone/>
                      </a:pPr>
                      <a:r>
                        <a:rPr b="1" lang="en-US" sz="2100">
                          <a:solidFill>
                            <a:srgbClr val="1F4E79"/>
                          </a:solidFill>
                        </a:rPr>
                        <a:t>Precondiciones</a:t>
                      </a:r>
                      <a:endParaRPr b="1" sz="21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100">
                          <a:solidFill>
                            <a:srgbClr val="1A1A1A"/>
                          </a:solidFill>
                        </a:rPr>
                        <a:t>Sesión activa como ‘Dueño’ o ‘Trabajador’. Existe un pedido Pendiente o Recibido parcialmente con saldo abierto.</a:t>
                      </a:r>
                      <a:endParaRPr sz="21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r h="1178725">
                <a:tc>
                  <a:txBody>
                    <a:bodyPr/>
                    <a:lstStyle/>
                    <a:p>
                      <a:pPr indent="0" lvl="0" marL="0" rtl="0" algn="l">
                        <a:lnSpc>
                          <a:spcPct val="115000"/>
                        </a:lnSpc>
                        <a:spcBef>
                          <a:spcPts val="0"/>
                        </a:spcBef>
                        <a:spcAft>
                          <a:spcPts val="0"/>
                        </a:spcAft>
                        <a:buNone/>
                      </a:pPr>
                      <a:r>
                        <a:rPr b="1" lang="en-US" sz="2100">
                          <a:solidFill>
                            <a:srgbClr val="1F4E79"/>
                          </a:solidFill>
                        </a:rPr>
                        <a:t>Postcondiciones</a:t>
                      </a:r>
                      <a:endParaRPr b="1" sz="21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100">
                          <a:solidFill>
                            <a:srgbClr val="1A1A1A"/>
                          </a:solidFill>
                        </a:rPr>
                        <a:t>Entrega y lotes registrados. Cantidades acumuladas; pedido Recibido o Recibido parcialmente.</a:t>
                      </a:r>
                      <a:endParaRPr sz="21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r h="555625">
                <a:tc>
                  <a:txBody>
                    <a:bodyPr/>
                    <a:lstStyle/>
                    <a:p>
                      <a:pPr indent="0" lvl="0" marL="0" rtl="0" algn="l">
                        <a:lnSpc>
                          <a:spcPct val="115000"/>
                        </a:lnSpc>
                        <a:spcBef>
                          <a:spcPts val="0"/>
                        </a:spcBef>
                        <a:spcAft>
                          <a:spcPts val="0"/>
                        </a:spcAft>
                        <a:buNone/>
                      </a:pPr>
                      <a:r>
                        <a:rPr b="1" lang="en-US" sz="2100">
                          <a:solidFill>
                            <a:srgbClr val="1F4E79"/>
                          </a:solidFill>
                        </a:rPr>
                        <a:t>Dependencias</a:t>
                      </a:r>
                      <a:endParaRPr b="1" sz="21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100">
                          <a:solidFill>
                            <a:srgbClr val="1A1A1A"/>
                          </a:solidFill>
                        </a:rPr>
                        <a:t>RF18. Depende de CU17.</a:t>
                      </a:r>
                      <a:endParaRPr sz="21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28" name="Shape 128"/>
        <p:cNvGrpSpPr/>
        <p:nvPr/>
      </p:nvGrpSpPr>
      <p:grpSpPr>
        <a:xfrm>
          <a:off x="0" y="0"/>
          <a:ext cx="0" cy="0"/>
          <a:chOff x="0" y="0"/>
          <a:chExt cx="0" cy="0"/>
        </a:xfrm>
      </p:grpSpPr>
      <p:sp>
        <p:nvSpPr>
          <p:cNvPr id="129" name="Google Shape;129;g3ec4c662846_0_249"/>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30" name="Google Shape;130;g3ec4c662846_0_249"/>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31" name="Google Shape;131;g3ec4c662846_0_249"/>
          <p:cNvSpPr txBox="1"/>
          <p:nvPr/>
        </p:nvSpPr>
        <p:spPr>
          <a:xfrm>
            <a:off x="1010250" y="307100"/>
            <a:ext cx="16267500" cy="6465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200"/>
              <a:buFont typeface="Arial"/>
              <a:buNone/>
            </a:pPr>
            <a:r>
              <a:rPr b="1" i="0" lang="en-US" sz="4200" u="none" cap="none" strike="noStrike">
                <a:solidFill>
                  <a:srgbClr val="000000"/>
                </a:solidFill>
                <a:latin typeface="DM Sans"/>
                <a:ea typeface="DM Sans"/>
                <a:cs typeface="DM Sans"/>
                <a:sym typeface="DM Sans"/>
              </a:rPr>
              <a:t>Requerimiento 2 - CU </a:t>
            </a:r>
            <a:r>
              <a:rPr b="1" lang="en-US" sz="4200">
                <a:latin typeface="DM Sans"/>
                <a:ea typeface="DM Sans"/>
                <a:cs typeface="DM Sans"/>
                <a:sym typeface="DM Sans"/>
              </a:rPr>
              <a:t>38</a:t>
            </a:r>
            <a:r>
              <a:rPr b="1" i="0" lang="en-US" sz="4200" u="none" cap="none" strike="noStrike">
                <a:solidFill>
                  <a:srgbClr val="000000"/>
                </a:solidFill>
                <a:latin typeface="DM Sans"/>
                <a:ea typeface="DM Sans"/>
                <a:cs typeface="DM Sans"/>
                <a:sym typeface="DM Sans"/>
              </a:rPr>
              <a:t> - Eliminando producto del inventario</a:t>
            </a:r>
            <a:endParaRPr b="1" i="0" sz="100" u="none" cap="none" strike="noStrike">
              <a:solidFill>
                <a:srgbClr val="000000"/>
              </a:solidFill>
              <a:latin typeface="DM Sans"/>
              <a:ea typeface="DM Sans"/>
              <a:cs typeface="DM Sans"/>
              <a:sym typeface="DM Sans"/>
            </a:endParaRPr>
          </a:p>
        </p:txBody>
      </p:sp>
      <p:graphicFrame>
        <p:nvGraphicFramePr>
          <p:cNvPr id="132" name="Google Shape;132;g3ec4c662846_0_249"/>
          <p:cNvGraphicFramePr/>
          <p:nvPr/>
        </p:nvGraphicFramePr>
        <p:xfrm>
          <a:off x="1024825" y="1049313"/>
          <a:ext cx="3000000" cy="3000000"/>
        </p:xfrm>
        <a:graphic>
          <a:graphicData uri="http://schemas.openxmlformats.org/drawingml/2006/table">
            <a:tbl>
              <a:tblPr>
                <a:noFill/>
                <a:tableStyleId>{4A316D23-DD11-486A-8A6B-3A806BA581AD}</a:tableStyleId>
              </a:tblPr>
              <a:tblGrid>
                <a:gridCol w="1165675"/>
                <a:gridCol w="5439775"/>
                <a:gridCol w="1554225"/>
                <a:gridCol w="1580125"/>
                <a:gridCol w="1735550"/>
                <a:gridCol w="1502400"/>
                <a:gridCol w="2150000"/>
                <a:gridCol w="1139750"/>
              </a:tblGrid>
              <a:tr h="688150">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ID</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Descripción</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Necesidad</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Prioridad</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Estabilidad</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Claridad</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300" u="none" cap="none" strike="noStrike">
                          <a:solidFill>
                            <a:srgbClr val="FFFFFF"/>
                          </a:solidFill>
                          <a:latin typeface="Times New Roman"/>
                          <a:ea typeface="Times New Roman"/>
                          <a:cs typeface="Times New Roman"/>
                          <a:sym typeface="Times New Roman"/>
                        </a:rPr>
                        <a:t>Verificabilidad</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c>
                  <a:txBody>
                    <a:bodyPr/>
                    <a:lstStyle/>
                    <a:p>
                      <a:pPr indent="0" lvl="0" marL="0" marR="0" rtl="0" algn="ctr">
                        <a:lnSpc>
                          <a:spcPct val="150000"/>
                        </a:lnSpc>
                        <a:spcBef>
                          <a:spcPts val="0"/>
                        </a:spcBef>
                        <a:spcAft>
                          <a:spcPts val="0"/>
                        </a:spcAft>
                        <a:buClr>
                          <a:srgbClr val="000000"/>
                        </a:buClr>
                        <a:buSzPts val="2500"/>
                        <a:buFont typeface="Arial"/>
                        <a:buNone/>
                      </a:pPr>
                      <a:r>
                        <a:rPr b="1" lang="en-US" sz="2500" u="none" cap="none" strike="noStrike">
                          <a:solidFill>
                            <a:srgbClr val="FFFFFF"/>
                          </a:solidFill>
                          <a:latin typeface="Times New Roman"/>
                          <a:ea typeface="Times New Roman"/>
                          <a:cs typeface="Times New Roman"/>
                          <a:sym typeface="Times New Roman"/>
                        </a:rPr>
                        <a:t>Fuente</a:t>
                      </a:r>
                      <a:endParaRPr sz="25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F3864"/>
                    </a:solidFill>
                  </a:tcPr>
                </a:tc>
              </a:tr>
              <a:tr h="225800">
                <a:tc gridSpan="8">
                  <a:txBody>
                    <a:bodyPr/>
                    <a:lstStyle/>
                    <a:p>
                      <a:pPr indent="0" lvl="0" marL="0" marR="0" rtl="0" algn="l">
                        <a:lnSpc>
                          <a:spcPct val="100000"/>
                        </a:lnSpc>
                        <a:spcBef>
                          <a:spcPts val="0"/>
                        </a:spcBef>
                        <a:spcAft>
                          <a:spcPts val="0"/>
                        </a:spcAft>
                        <a:buClr>
                          <a:srgbClr val="000000"/>
                        </a:buClr>
                        <a:buSzPts val="2500"/>
                        <a:buFont typeface="Arial"/>
                        <a:buNone/>
                      </a:pPr>
                      <a:r>
                        <a:rPr b="1" lang="en-US" sz="2300">
                          <a:solidFill>
                            <a:srgbClr val="FFFFFF"/>
                          </a:solidFill>
                          <a:latin typeface="Times New Roman"/>
                          <a:ea typeface="Times New Roman"/>
                          <a:cs typeface="Times New Roman"/>
                          <a:sym typeface="Times New Roman"/>
                        </a:rPr>
                        <a:t>5.- GESTIÓN DE VENTAS</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2E75B6"/>
                    </a:solidFill>
                  </a:tcPr>
                </a:tc>
                <a:tc hMerge="1"/>
                <a:tc hMerge="1"/>
                <a:tc hMerge="1"/>
                <a:tc hMerge="1"/>
                <a:tc hMerge="1"/>
                <a:tc hMerge="1"/>
                <a:tc hMerge="1"/>
              </a:tr>
              <a:tr h="338900">
                <a:tc>
                  <a:txBody>
                    <a:bodyPr/>
                    <a:lstStyle/>
                    <a:p>
                      <a:pPr indent="0" lvl="0" marL="0" marR="0" rtl="0" algn="ctr">
                        <a:lnSpc>
                          <a:spcPct val="100000"/>
                        </a:lnSpc>
                        <a:spcBef>
                          <a:spcPts val="0"/>
                        </a:spcBef>
                        <a:spcAft>
                          <a:spcPts val="0"/>
                        </a:spcAft>
                        <a:buClr>
                          <a:srgbClr val="000000"/>
                        </a:buClr>
                        <a:buSzPts val="2500"/>
                        <a:buFont typeface="Arial"/>
                        <a:buNone/>
                      </a:pPr>
                      <a:r>
                        <a:rPr b="1" lang="en-US" sz="2300">
                          <a:solidFill>
                            <a:srgbClr val="1F3864"/>
                          </a:solidFill>
                          <a:latin typeface="Times New Roman"/>
                          <a:ea typeface="Times New Roman"/>
                          <a:cs typeface="Times New Roman"/>
                          <a:sym typeface="Times New Roman"/>
                        </a:rPr>
                        <a:t>5.3</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l">
                        <a:lnSpc>
                          <a:spcPct val="100000"/>
                        </a:lnSpc>
                        <a:spcBef>
                          <a:spcPts val="0"/>
                        </a:spcBef>
                        <a:spcAft>
                          <a:spcPts val="0"/>
                        </a:spcAft>
                        <a:buClr>
                          <a:srgbClr val="000000"/>
                        </a:buClr>
                        <a:buSzPts val="2500"/>
                        <a:buFont typeface="Arial"/>
                        <a:buNone/>
                      </a:pPr>
                      <a:r>
                        <a:rPr b="1" lang="en-US" sz="2300">
                          <a:solidFill>
                            <a:srgbClr val="1F3864"/>
                          </a:solidFill>
                          <a:latin typeface="Times New Roman"/>
                          <a:ea typeface="Times New Roman"/>
                          <a:cs typeface="Times New Roman"/>
                          <a:sym typeface="Times New Roman"/>
                        </a:rPr>
                        <a:t>Anulación de Venta</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1F3864"/>
                          </a:solidFill>
                          <a:latin typeface="Times New Roman"/>
                          <a:ea typeface="Times New Roman"/>
                          <a:cs typeface="Times New Roman"/>
                          <a:sym typeface="Times New Roman"/>
                        </a:rPr>
                        <a:t>1</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300">
                          <a:solidFill>
                            <a:srgbClr val="1F3864"/>
                          </a:solidFill>
                          <a:latin typeface="Times New Roman"/>
                          <a:ea typeface="Times New Roman"/>
                          <a:cs typeface="Times New Roman"/>
                          <a:sym typeface="Times New Roman"/>
                        </a:rPr>
                        <a:t>2</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1F3864"/>
                          </a:solidFill>
                          <a:latin typeface="Times New Roman"/>
                          <a:ea typeface="Times New Roman"/>
                          <a:cs typeface="Times New Roman"/>
                          <a:sym typeface="Times New Roman"/>
                        </a:rPr>
                        <a:t>1</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1F3864"/>
                          </a:solidFill>
                          <a:latin typeface="Times New Roman"/>
                          <a:ea typeface="Times New Roman"/>
                          <a:cs typeface="Times New Roman"/>
                          <a:sym typeface="Times New Roman"/>
                        </a:rPr>
                        <a:t>1</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1F3864"/>
                          </a:solidFill>
                          <a:latin typeface="Times New Roman"/>
                          <a:ea typeface="Times New Roman"/>
                          <a:cs typeface="Times New Roman"/>
                          <a:sym typeface="Times New Roman"/>
                        </a:rPr>
                        <a:t>1</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c>
                  <a:txBody>
                    <a:bodyPr/>
                    <a:lstStyle/>
                    <a:p>
                      <a:pPr indent="0" lvl="0" marL="0" marR="0" rtl="0" algn="ctr">
                        <a:lnSpc>
                          <a:spcPct val="100000"/>
                        </a:lnSpc>
                        <a:spcBef>
                          <a:spcPts val="0"/>
                        </a:spcBef>
                        <a:spcAft>
                          <a:spcPts val="0"/>
                        </a:spcAft>
                        <a:buClr>
                          <a:srgbClr val="000000"/>
                        </a:buClr>
                        <a:buSzPts val="2500"/>
                        <a:buFont typeface="Arial"/>
                        <a:buNone/>
                      </a:pPr>
                      <a:r>
                        <a:rPr b="1" lang="en-US" sz="2500" u="none" cap="none" strike="noStrike">
                          <a:solidFill>
                            <a:srgbClr val="1F3864"/>
                          </a:solidFill>
                          <a:latin typeface="Times New Roman"/>
                          <a:ea typeface="Times New Roman"/>
                          <a:cs typeface="Times New Roman"/>
                          <a:sym typeface="Times New Roman"/>
                        </a:rPr>
                        <a:t>1</a:t>
                      </a:r>
                      <a:endParaRPr sz="25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BDD7EE"/>
                    </a:solidFill>
                  </a:tcPr>
                </a:tc>
              </a:tr>
              <a:tr h="2033475">
                <a:tc>
                  <a:txBody>
                    <a:bodyPr/>
                    <a:lstStyle/>
                    <a:p>
                      <a:pPr indent="0" lvl="0" marL="0" marR="0" rtl="0" algn="ctr">
                        <a:lnSpc>
                          <a:spcPct val="100000"/>
                        </a:lnSpc>
                        <a:spcBef>
                          <a:spcPts val="0"/>
                        </a:spcBef>
                        <a:spcAft>
                          <a:spcPts val="0"/>
                        </a:spcAft>
                        <a:buClr>
                          <a:srgbClr val="000000"/>
                        </a:buClr>
                        <a:buSzPts val="2500"/>
                        <a:buFont typeface="Arial"/>
                        <a:buNone/>
                      </a:pPr>
                      <a:r>
                        <a:rPr b="1" lang="en-US" sz="2300" u="none" cap="none" strike="noStrike">
                          <a:solidFill>
                            <a:srgbClr val="1F3864"/>
                          </a:solidFill>
                          <a:latin typeface="Times New Roman"/>
                          <a:ea typeface="Times New Roman"/>
                          <a:cs typeface="Times New Roman"/>
                          <a:sym typeface="Times New Roman"/>
                        </a:rPr>
                        <a:t>RF</a:t>
                      </a:r>
                      <a:r>
                        <a:rPr b="1" lang="en-US" sz="2300">
                          <a:solidFill>
                            <a:srgbClr val="1F3864"/>
                          </a:solidFill>
                          <a:latin typeface="Times New Roman"/>
                          <a:ea typeface="Times New Roman"/>
                          <a:cs typeface="Times New Roman"/>
                          <a:sym typeface="Times New Roman"/>
                        </a:rPr>
                        <a:t>38</a:t>
                      </a:r>
                      <a:endParaRPr sz="2300" u="none" cap="none" strike="noStrike">
                        <a:latin typeface="Times New Roman"/>
                        <a:ea typeface="Times New Roman"/>
                        <a:cs typeface="Times New Roman"/>
                        <a:sym typeface="Times New Roman"/>
                      </a:endParaRPr>
                    </a:p>
                  </a:txBody>
                  <a:tcPr marT="0" marB="0" marR="25400" marL="25400" anchor="ctr">
                    <a:lnL cap="flat" cmpd="sng" w="9525">
                      <a:solidFill>
                        <a:srgbClr val="000000"/>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gridSpan="7">
                  <a:txBody>
                    <a:bodyPr/>
                    <a:lstStyle/>
                    <a:p>
                      <a:pPr indent="0" lvl="0" marL="0" rtl="0" algn="l">
                        <a:lnSpc>
                          <a:spcPct val="150000"/>
                        </a:lnSpc>
                        <a:spcBef>
                          <a:spcPts val="0"/>
                        </a:spcBef>
                        <a:spcAft>
                          <a:spcPts val="0"/>
                        </a:spcAft>
                        <a:buClr>
                          <a:schemeClr val="dk1"/>
                        </a:buClr>
                        <a:buSzPts val="1100"/>
                        <a:buFont typeface="Arial"/>
                        <a:buNone/>
                      </a:pPr>
                      <a:r>
                        <a:rPr i="1" lang="en-US" sz="1700">
                          <a:solidFill>
                            <a:schemeClr val="dk1"/>
                          </a:solidFill>
                          <a:latin typeface="Times New Roman"/>
                          <a:ea typeface="Times New Roman"/>
                          <a:cs typeface="Times New Roman"/>
                          <a:sym typeface="Times New Roman"/>
                        </a:rPr>
                        <a:t>El sistema debe permitir al Dueño o Trabajador anular una venta vigente registrada en el día en curso únicamente mientras la caja asociada a esa venta siga abierta. Debe identificarla por número y mostrar responsable, fecha y hora, productos, descuento, método de pago y total; debe exigir razón de anulación y confirmación. Al confirmar, debe revalidar las condiciones, reponer exactamente el stock descontado de los lotes involucrados, marcar la venta como anulada sin eliminar su historial y registrar responsable, fecha, hora y razón. Debe impedir anulaciones repetidas y rechazar la operación si la caja está cerrada, sin modificar venta, stock ni cierre. No se contempla rectificación de cierres.</a:t>
                      </a:r>
                      <a:endParaRPr i="1" sz="3300" u="none" cap="none" strike="noStrike">
                        <a:latin typeface="Times New Roman"/>
                        <a:ea typeface="Times New Roman"/>
                        <a:cs typeface="Times New Roman"/>
                        <a:sym typeface="Times New Roman"/>
                      </a:endParaRPr>
                    </a:p>
                  </a:txBody>
                  <a:tcPr marT="0" marB="0" marR="25400" marL="25400" anchor="ctr">
                    <a:lnL cap="flat" cmpd="sng" w="9525">
                      <a:solidFill>
                        <a:srgbClr val="CCCCCC"/>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000000"/>
                      </a:solidFill>
                      <a:prstDash val="solid"/>
                      <a:round/>
                      <a:headEnd len="sm" w="sm" type="none"/>
                      <a:tailEnd len="sm" w="sm" type="none"/>
                    </a:lnB>
                    <a:solidFill>
                      <a:schemeClr val="lt1"/>
                    </a:solidFill>
                  </a:tcPr>
                </a:tc>
                <a:tc hMerge="1"/>
                <a:tc hMerge="1"/>
                <a:tc hMerge="1"/>
                <a:tc hMerge="1"/>
                <a:tc hMerge="1"/>
                <a:tc hMerge="1"/>
              </a:tr>
            </a:tbl>
          </a:graphicData>
        </a:graphic>
      </p:graphicFrame>
      <p:sp>
        <p:nvSpPr>
          <p:cNvPr id="133" name="Google Shape;133;g3ec4c662846_0_249"/>
          <p:cNvSpPr/>
          <p:nvPr/>
        </p:nvSpPr>
        <p:spPr>
          <a:xfrm>
            <a:off x="147575" y="30740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3</a:t>
            </a:r>
            <a:endParaRPr b="0" i="0" sz="3400" u="none" cap="none" strike="noStrike">
              <a:solidFill>
                <a:schemeClr val="lt1"/>
              </a:solidFill>
              <a:latin typeface="DM Sans Black"/>
              <a:ea typeface="DM Sans Black"/>
              <a:cs typeface="DM Sans Black"/>
              <a:sym typeface="DM Sans Black"/>
            </a:endParaRPr>
          </a:p>
        </p:txBody>
      </p:sp>
      <p:graphicFrame>
        <p:nvGraphicFramePr>
          <p:cNvPr id="134" name="Google Shape;134;g3ec4c662846_0_249"/>
          <p:cNvGraphicFramePr/>
          <p:nvPr/>
        </p:nvGraphicFramePr>
        <p:xfrm>
          <a:off x="1039375" y="4652200"/>
          <a:ext cx="3000000" cy="3000000"/>
        </p:xfrm>
        <a:graphic>
          <a:graphicData uri="http://schemas.openxmlformats.org/drawingml/2006/table">
            <a:tbl>
              <a:tblPr>
                <a:noFill/>
                <a:tableStyleId>{4D4D5184-4199-43EA-A614-1320DFF9D65E}</a:tableStyleId>
              </a:tblPr>
              <a:tblGrid>
                <a:gridCol w="2280125"/>
                <a:gridCol w="5969200"/>
                <a:gridCol w="7989075"/>
              </a:tblGrid>
              <a:tr h="246350">
                <a:tc gridSpan="2">
                  <a:txBody>
                    <a:bodyPr/>
                    <a:lstStyle/>
                    <a:p>
                      <a:pPr indent="0" lvl="0" marL="0" rtl="0" algn="ctr">
                        <a:lnSpc>
                          <a:spcPct val="115000"/>
                        </a:lnSpc>
                        <a:spcBef>
                          <a:spcPts val="0"/>
                        </a:spcBef>
                        <a:spcAft>
                          <a:spcPts val="0"/>
                        </a:spcAft>
                        <a:buNone/>
                      </a:pPr>
                      <a:r>
                        <a:rPr b="1" lang="en-US" sz="3100">
                          <a:solidFill>
                            <a:srgbClr val="FFFFFF"/>
                          </a:solidFill>
                        </a:rPr>
                        <a:t>Ficha Caso de uso</a:t>
                      </a:r>
                      <a:endParaRPr b="1" sz="3100">
                        <a:solidFill>
                          <a:srgbClr val="FFFFFF"/>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1F5C8B"/>
                    </a:solidFill>
                  </a:tcPr>
                </a:tc>
                <a:tc hMerge="1"/>
                <a:tc>
                  <a:txBody>
                    <a:bodyPr/>
                    <a:lstStyle/>
                    <a:p>
                      <a:pPr indent="0" lvl="0" marL="0" rtl="0" algn="ctr">
                        <a:lnSpc>
                          <a:spcPct val="115000"/>
                        </a:lnSpc>
                        <a:spcBef>
                          <a:spcPts val="0"/>
                        </a:spcBef>
                        <a:spcAft>
                          <a:spcPts val="0"/>
                        </a:spcAft>
                        <a:buNone/>
                      </a:pPr>
                      <a:r>
                        <a:rPr b="1" lang="en-US" sz="3100">
                          <a:solidFill>
                            <a:srgbClr val="FFFFFF"/>
                          </a:solidFill>
                        </a:rPr>
                        <a:t>Descripción del caso de uso</a:t>
                      </a:r>
                      <a:endParaRPr b="1" sz="3100">
                        <a:solidFill>
                          <a:srgbClr val="FFFFFF"/>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1F5C8B"/>
                    </a:solidFill>
                  </a:tcPr>
                </a:tc>
              </a:tr>
              <a:tr h="532975">
                <a:tc>
                  <a:txBody>
                    <a:bodyPr/>
                    <a:lstStyle/>
                    <a:p>
                      <a:pPr indent="0" lvl="0" marL="0" rtl="0" algn="l">
                        <a:lnSpc>
                          <a:spcPct val="115000"/>
                        </a:lnSpc>
                        <a:spcBef>
                          <a:spcPts val="0"/>
                        </a:spcBef>
                        <a:spcAft>
                          <a:spcPts val="0"/>
                        </a:spcAft>
                        <a:buNone/>
                      </a:pPr>
                      <a:r>
                        <a:rPr b="1" lang="en-US" sz="2000">
                          <a:solidFill>
                            <a:srgbClr val="1F4E79"/>
                          </a:solidFill>
                        </a:rPr>
                        <a:t>Actor(es)</a:t>
                      </a:r>
                      <a:endParaRPr b="1" sz="20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000">
                          <a:solidFill>
                            <a:srgbClr val="1A1A1A"/>
                          </a:solidFill>
                        </a:rPr>
                        <a:t>Dueño, Trabajador</a:t>
                      </a:r>
                      <a:endParaRPr sz="20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rowSpan="5">
                  <a:txBody>
                    <a:bodyPr/>
                    <a:lstStyle/>
                    <a:p>
                      <a:pPr indent="0" lvl="0" marL="0" rtl="0" algn="l">
                        <a:lnSpc>
                          <a:spcPct val="115000"/>
                        </a:lnSpc>
                        <a:spcBef>
                          <a:spcPts val="0"/>
                        </a:spcBef>
                        <a:spcAft>
                          <a:spcPts val="0"/>
                        </a:spcAft>
                        <a:buNone/>
                      </a:pPr>
                      <a:r>
                        <a:rPr lang="en-US" sz="2100">
                          <a:solidFill>
                            <a:srgbClr val="1A1A1A"/>
                          </a:solidFill>
                        </a:rPr>
                        <a:t>El caso de uso 38 permite que el ‘Dueño’ o ‘Trabajador’ anule una venta vigente del día en curso mientras su caja asociada permanezca abierta, ingresando el número de venta para revisar su detalle y confirmando la anulación junto con la razón correspondiente. El sistema revalida que la venta siga vigente y que la caja continúe abierta, restituye los lotes exactos, registra la anulación con su razón, fecha y responsable, y conserva el historial actualizando los indicadores.</a:t>
                      </a:r>
                      <a:endParaRPr sz="2100">
                        <a:solidFill>
                          <a:srgbClr val="1A1A1A"/>
                        </a:solidFill>
                      </a:endParaRPr>
                    </a:p>
                    <a:p>
                      <a:pPr indent="0" lvl="0" marL="0" rtl="0" algn="l">
                        <a:lnSpc>
                          <a:spcPct val="115000"/>
                        </a:lnSpc>
                        <a:spcBef>
                          <a:spcPts val="0"/>
                        </a:spcBef>
                        <a:spcAft>
                          <a:spcPts val="0"/>
                        </a:spcAft>
                        <a:buNone/>
                      </a:pPr>
                      <a:r>
                        <a:rPr lang="en-US" sz="2100">
                          <a:solidFill>
                            <a:srgbClr val="1A1A1A"/>
                          </a:solidFill>
                        </a:rPr>
                        <a:t>El sistema impide la anulación y no modifica la venta ni el stock cuando la venta no existe, corresponde a un día anterior, ya fue anulada, no se ingresó la razón o la caja asociada se encuentra cerrada.</a:t>
                      </a:r>
                      <a:endParaRPr sz="21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7E6E6"/>
                    </a:solidFill>
                  </a:tcPr>
                </a:tc>
              </a:tr>
              <a:tr h="904225">
                <a:tc>
                  <a:txBody>
                    <a:bodyPr/>
                    <a:lstStyle/>
                    <a:p>
                      <a:pPr indent="0" lvl="0" marL="0" rtl="0" algn="l">
                        <a:lnSpc>
                          <a:spcPct val="115000"/>
                        </a:lnSpc>
                        <a:spcBef>
                          <a:spcPts val="0"/>
                        </a:spcBef>
                        <a:spcAft>
                          <a:spcPts val="0"/>
                        </a:spcAft>
                        <a:buNone/>
                      </a:pPr>
                      <a:r>
                        <a:rPr b="1" lang="en-US" sz="2000">
                          <a:solidFill>
                            <a:srgbClr val="1F4E79"/>
                          </a:solidFill>
                        </a:rPr>
                        <a:t>Frecuencia</a:t>
                      </a:r>
                      <a:endParaRPr b="1" sz="20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000">
                          <a:solidFill>
                            <a:srgbClr val="1A1A1A"/>
                          </a:solidFill>
                        </a:rPr>
                        <a:t>Ocasionalmente, cuando se debe corregir una venta del día en curso.</a:t>
                      </a:r>
                      <a:endParaRPr sz="20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r h="1339950">
                <a:tc>
                  <a:txBody>
                    <a:bodyPr/>
                    <a:lstStyle/>
                    <a:p>
                      <a:pPr indent="0" lvl="0" marL="0" rtl="0" algn="l">
                        <a:lnSpc>
                          <a:spcPct val="115000"/>
                        </a:lnSpc>
                        <a:spcBef>
                          <a:spcPts val="0"/>
                        </a:spcBef>
                        <a:spcAft>
                          <a:spcPts val="0"/>
                        </a:spcAft>
                        <a:buNone/>
                      </a:pPr>
                      <a:r>
                        <a:rPr b="1" lang="en-US" sz="2000">
                          <a:solidFill>
                            <a:srgbClr val="1F4E79"/>
                          </a:solidFill>
                        </a:rPr>
                        <a:t>Precondiciones</a:t>
                      </a:r>
                      <a:endParaRPr b="1" sz="20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000">
                          <a:solidFill>
                            <a:srgbClr val="1A1A1A"/>
                          </a:solidFill>
                        </a:rPr>
                        <a:t>Sesión activa. La venta existe, es del día en curso, está vigente y su caja asociada sigue abierta.</a:t>
                      </a:r>
                      <a:endParaRPr sz="20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r h="1178725">
                <a:tc>
                  <a:txBody>
                    <a:bodyPr/>
                    <a:lstStyle/>
                    <a:p>
                      <a:pPr indent="0" lvl="0" marL="0" rtl="0" algn="l">
                        <a:lnSpc>
                          <a:spcPct val="115000"/>
                        </a:lnSpc>
                        <a:spcBef>
                          <a:spcPts val="0"/>
                        </a:spcBef>
                        <a:spcAft>
                          <a:spcPts val="0"/>
                        </a:spcAft>
                        <a:buNone/>
                      </a:pPr>
                      <a:r>
                        <a:rPr b="1" lang="en-US" sz="2000">
                          <a:solidFill>
                            <a:srgbClr val="1F4E79"/>
                          </a:solidFill>
                        </a:rPr>
                        <a:t>Postcondiciones</a:t>
                      </a:r>
                      <a:endParaRPr b="1" sz="20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000">
                          <a:solidFill>
                            <a:srgbClr val="1A1A1A"/>
                          </a:solidFill>
                        </a:rPr>
                        <a:t>Venta anulada, lotes exactos repuestos y anulación trazable. Ante caja cerrada, no se realiza ningún cambio.</a:t>
                      </a:r>
                      <a:endParaRPr sz="20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r h="555625">
                <a:tc>
                  <a:txBody>
                    <a:bodyPr/>
                    <a:lstStyle/>
                    <a:p>
                      <a:pPr indent="0" lvl="0" marL="0" rtl="0" algn="l">
                        <a:lnSpc>
                          <a:spcPct val="115000"/>
                        </a:lnSpc>
                        <a:spcBef>
                          <a:spcPts val="0"/>
                        </a:spcBef>
                        <a:spcAft>
                          <a:spcPts val="0"/>
                        </a:spcAft>
                        <a:buNone/>
                      </a:pPr>
                      <a:r>
                        <a:rPr b="1" lang="en-US" sz="2000">
                          <a:solidFill>
                            <a:srgbClr val="1F4E79"/>
                          </a:solidFill>
                        </a:rPr>
                        <a:t>Dependencias</a:t>
                      </a:r>
                      <a:endParaRPr b="1" sz="2000">
                        <a:solidFill>
                          <a:srgbClr val="1F4E79"/>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C9C9C9"/>
                    </a:solidFill>
                  </a:tcPr>
                </a:tc>
                <a:tc>
                  <a:txBody>
                    <a:bodyPr/>
                    <a:lstStyle/>
                    <a:p>
                      <a:pPr indent="0" lvl="0" marL="0" rtl="0" algn="l">
                        <a:lnSpc>
                          <a:spcPct val="115000"/>
                        </a:lnSpc>
                        <a:spcBef>
                          <a:spcPts val="0"/>
                        </a:spcBef>
                        <a:spcAft>
                          <a:spcPts val="0"/>
                        </a:spcAft>
                        <a:buNone/>
                      </a:pPr>
                      <a:r>
                        <a:rPr lang="en-US" sz="2000">
                          <a:solidFill>
                            <a:srgbClr val="1A1A1A"/>
                          </a:solidFill>
                        </a:rPr>
                        <a:t>RF38.</a:t>
                      </a:r>
                      <a:endParaRPr sz="2000">
                        <a:solidFill>
                          <a:srgbClr val="1A1A1A"/>
                        </a:solidFill>
                      </a:endParaRPr>
                    </a:p>
                  </a:txBody>
                  <a:tcPr marT="91425" marB="91425" marR="91425" marL="91425">
                    <a:lnL cap="flat" cmpd="sng" w="11900">
                      <a:solidFill>
                        <a:srgbClr val="000000"/>
                      </a:solidFill>
                      <a:prstDash val="solid"/>
                      <a:round/>
                      <a:headEnd len="sm" w="sm" type="none"/>
                      <a:tailEnd len="sm" w="sm" type="none"/>
                    </a:lnL>
                    <a:lnR cap="flat" cmpd="sng" w="11900">
                      <a:solidFill>
                        <a:srgbClr val="000000"/>
                      </a:solidFill>
                      <a:prstDash val="solid"/>
                      <a:round/>
                      <a:headEnd len="sm" w="sm" type="none"/>
                      <a:tailEnd len="sm" w="sm" type="none"/>
                    </a:lnR>
                    <a:lnT cap="flat" cmpd="sng" w="11900">
                      <a:solidFill>
                        <a:srgbClr val="000000"/>
                      </a:solidFill>
                      <a:prstDash val="solid"/>
                      <a:round/>
                      <a:headEnd len="sm" w="sm" type="none"/>
                      <a:tailEnd len="sm" w="sm" type="none"/>
                    </a:lnT>
                    <a:lnB cap="flat" cmpd="sng" w="11900">
                      <a:solidFill>
                        <a:srgbClr val="000000"/>
                      </a:solidFill>
                      <a:prstDash val="solid"/>
                      <a:round/>
                      <a:headEnd len="sm" w="sm" type="none"/>
                      <a:tailEnd len="sm" w="sm" type="none"/>
                    </a:lnB>
                    <a:solidFill>
                      <a:srgbClr val="EDEDED"/>
                    </a:solidFill>
                  </a:tcPr>
                </a:tc>
                <a:tc vMerge="1"/>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38" name="Shape 138"/>
        <p:cNvGrpSpPr/>
        <p:nvPr/>
      </p:nvGrpSpPr>
      <p:grpSpPr>
        <a:xfrm>
          <a:off x="0" y="0"/>
          <a:ext cx="0" cy="0"/>
          <a:chOff x="0" y="0"/>
          <a:chExt cx="0" cy="0"/>
        </a:xfrm>
      </p:grpSpPr>
      <p:sp>
        <p:nvSpPr>
          <p:cNvPr id="139" name="Google Shape;139;g3ec4c662846_0_313"/>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40" name="Google Shape;140;g3ec4c662846_0_313"/>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41" name="Google Shape;141;g3ec4c662846_0_313"/>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5754"/>
              <a:buFont typeface="Arial"/>
              <a:buNone/>
            </a:pPr>
            <a:r>
              <a:rPr b="1" i="0" lang="en-US" sz="5754" u="none" cap="none" strike="noStrike">
                <a:solidFill>
                  <a:schemeClr val="dk1"/>
                </a:solidFill>
                <a:latin typeface="DM Sans"/>
                <a:ea typeface="DM Sans"/>
                <a:cs typeface="DM Sans"/>
                <a:sym typeface="DM Sans"/>
              </a:rPr>
              <a:t>Arquitectura 4+1</a:t>
            </a:r>
            <a:endParaRPr b="1" i="0" sz="700" u="none" cap="none" strike="noStrike">
              <a:solidFill>
                <a:schemeClr val="dk1"/>
              </a:solidFill>
              <a:latin typeface="DM Sans"/>
              <a:ea typeface="DM Sans"/>
              <a:cs typeface="DM Sans"/>
              <a:sym typeface="DM Sans"/>
            </a:endParaRPr>
          </a:p>
        </p:txBody>
      </p:sp>
      <p:pic>
        <p:nvPicPr>
          <p:cNvPr id="142" name="Google Shape;142;g3ec4c662846_0_313"/>
          <p:cNvPicPr preferRelativeResize="0"/>
          <p:nvPr/>
        </p:nvPicPr>
        <p:blipFill rotWithShape="1">
          <a:blip r:embed="rId4">
            <a:alphaModFix/>
          </a:blip>
          <a:srcRect b="0" l="0" r="0" t="0"/>
          <a:stretch/>
        </p:blipFill>
        <p:spPr>
          <a:xfrm>
            <a:off x="1010250" y="1996212"/>
            <a:ext cx="16267500" cy="6294567"/>
          </a:xfrm>
          <a:prstGeom prst="rect">
            <a:avLst/>
          </a:prstGeom>
          <a:noFill/>
          <a:ln>
            <a:noFill/>
          </a:ln>
        </p:spPr>
      </p:pic>
      <p:sp>
        <p:nvSpPr>
          <p:cNvPr id="143" name="Google Shape;143;g3ec4c662846_0_313"/>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4</a:t>
            </a:r>
            <a:endParaRPr b="0" i="0" sz="3400" u="none" cap="none" strike="noStrike">
              <a:solidFill>
                <a:schemeClr val="lt1"/>
              </a:solidFill>
              <a:latin typeface="DM Sans Black"/>
              <a:ea typeface="DM Sans Black"/>
              <a:cs typeface="DM Sans Black"/>
              <a:sym typeface="DM Sans Black"/>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47" name="Shape 147"/>
        <p:cNvGrpSpPr/>
        <p:nvPr/>
      </p:nvGrpSpPr>
      <p:grpSpPr>
        <a:xfrm>
          <a:off x="0" y="0"/>
          <a:ext cx="0" cy="0"/>
          <a:chOff x="0" y="0"/>
          <a:chExt cx="0" cy="0"/>
        </a:xfrm>
      </p:grpSpPr>
      <p:sp>
        <p:nvSpPr>
          <p:cNvPr id="148" name="Google Shape;148;g3ec4c662846_0_279"/>
          <p:cNvSpPr/>
          <p:nvPr/>
        </p:nvSpPr>
        <p:spPr>
          <a:xfrm flipH="1" rot="3509744">
            <a:off x="-11694950" y="-1927199"/>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49" name="Google Shape;149;g3ec4c662846_0_279"/>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50" name="Google Shape;150;g3ec4c662846_0_279"/>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Vista lógica: Modelo Físico (Simplificado)</a:t>
            </a:r>
            <a:endParaRPr b="1" i="0" sz="300" u="none" cap="none" strike="noStrike">
              <a:solidFill>
                <a:srgbClr val="000000"/>
              </a:solidFill>
              <a:latin typeface="DM Sans"/>
              <a:ea typeface="DM Sans"/>
              <a:cs typeface="DM Sans"/>
              <a:sym typeface="DM Sans"/>
            </a:endParaRPr>
          </a:p>
        </p:txBody>
      </p:sp>
      <p:pic>
        <p:nvPicPr>
          <p:cNvPr id="151" name="Google Shape;151;g3ec4c662846_0_279" title="modelo_fisico (1)-01 Vista PPT.png"/>
          <p:cNvPicPr preferRelativeResize="0"/>
          <p:nvPr/>
        </p:nvPicPr>
        <p:blipFill rotWithShape="1">
          <a:blip r:embed="rId4">
            <a:alphaModFix/>
          </a:blip>
          <a:srcRect b="0" l="0" r="0" t="0"/>
          <a:stretch/>
        </p:blipFill>
        <p:spPr>
          <a:xfrm>
            <a:off x="755175" y="1401851"/>
            <a:ext cx="16777651" cy="8052950"/>
          </a:xfrm>
          <a:prstGeom prst="rect">
            <a:avLst/>
          </a:prstGeom>
          <a:noFill/>
          <a:ln>
            <a:noFill/>
          </a:ln>
        </p:spPr>
      </p:pic>
      <p:sp>
        <p:nvSpPr>
          <p:cNvPr id="152" name="Google Shape;152;g3ec4c662846_0_279"/>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5</a:t>
            </a:r>
            <a:endParaRPr b="0" i="0" sz="3400" u="none" cap="none" strike="noStrike">
              <a:solidFill>
                <a:schemeClr val="lt1"/>
              </a:solidFill>
              <a:latin typeface="DM Sans Black"/>
              <a:ea typeface="DM Sans Black"/>
              <a:cs typeface="DM Sans Black"/>
              <a:sym typeface="DM Sans Black"/>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56" name="Shape 156"/>
        <p:cNvGrpSpPr/>
        <p:nvPr/>
      </p:nvGrpSpPr>
      <p:grpSpPr>
        <a:xfrm>
          <a:off x="0" y="0"/>
          <a:ext cx="0" cy="0"/>
          <a:chOff x="0" y="0"/>
          <a:chExt cx="0" cy="0"/>
        </a:xfrm>
      </p:grpSpPr>
      <p:sp>
        <p:nvSpPr>
          <p:cNvPr id="157" name="Google Shape;157;g3ec6d24bafc_0_18"/>
          <p:cNvSpPr/>
          <p:nvPr/>
        </p:nvSpPr>
        <p:spPr>
          <a:xfrm flipH="1" rot="3509744">
            <a:off x="-11694950" y="-1927199"/>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58" name="Google Shape;158;g3ec6d24bafc_0_18"/>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59" name="Google Shape;159;g3ec6d24bafc_0_18"/>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Vista lógica: Modelo Físico (UML)</a:t>
            </a:r>
            <a:endParaRPr b="1" i="0" sz="300" u="none" cap="none" strike="noStrike">
              <a:solidFill>
                <a:srgbClr val="000000"/>
              </a:solidFill>
              <a:latin typeface="DM Sans"/>
              <a:ea typeface="DM Sans"/>
              <a:cs typeface="DM Sans"/>
              <a:sym typeface="DM Sans"/>
            </a:endParaRPr>
          </a:p>
        </p:txBody>
      </p:sp>
      <p:pic>
        <p:nvPicPr>
          <p:cNvPr id="160" name="Google Shape;160;g3ec6d24bafc_0_18" title="modelo_fisico(1).drawio.png"/>
          <p:cNvPicPr preferRelativeResize="0"/>
          <p:nvPr/>
        </p:nvPicPr>
        <p:blipFill rotWithShape="1">
          <a:blip r:embed="rId4">
            <a:alphaModFix/>
          </a:blip>
          <a:srcRect b="0" l="0" r="0" t="0"/>
          <a:stretch/>
        </p:blipFill>
        <p:spPr>
          <a:xfrm>
            <a:off x="1010250" y="1284125"/>
            <a:ext cx="16267500" cy="8745381"/>
          </a:xfrm>
          <a:prstGeom prst="rect">
            <a:avLst/>
          </a:prstGeom>
          <a:noFill/>
          <a:ln>
            <a:noFill/>
          </a:ln>
        </p:spPr>
      </p:pic>
      <p:sp>
        <p:nvSpPr>
          <p:cNvPr id="161" name="Google Shape;161;g3ec6d24bafc_0_18"/>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6</a:t>
            </a:r>
            <a:endParaRPr b="0" i="0" sz="3400" u="none" cap="none" strike="noStrike">
              <a:solidFill>
                <a:schemeClr val="lt1"/>
              </a:solidFill>
              <a:latin typeface="DM Sans Black"/>
              <a:ea typeface="DM Sans Black"/>
              <a:cs typeface="DM Sans Black"/>
              <a:sym typeface="DM Sans Black"/>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65" name="Shape 165"/>
        <p:cNvGrpSpPr/>
        <p:nvPr/>
      </p:nvGrpSpPr>
      <p:grpSpPr>
        <a:xfrm>
          <a:off x="0" y="0"/>
          <a:ext cx="0" cy="0"/>
          <a:chOff x="0" y="0"/>
          <a:chExt cx="0" cy="0"/>
        </a:xfrm>
      </p:grpSpPr>
      <p:sp>
        <p:nvSpPr>
          <p:cNvPr id="166" name="Google Shape;166;g3ec4c662846_0_288"/>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67" name="Google Shape;167;g3ec4c662846_0_288"/>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68" name="Google Shape;168;g3ec4c662846_0_288"/>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Vista de Desarrollo: Diagrama de Componentes</a:t>
            </a:r>
            <a:endParaRPr b="1" i="0" sz="300" u="none" cap="none" strike="noStrike">
              <a:solidFill>
                <a:srgbClr val="000000"/>
              </a:solidFill>
              <a:latin typeface="DM Sans"/>
              <a:ea typeface="DM Sans"/>
              <a:cs typeface="DM Sans"/>
              <a:sym typeface="DM Sans"/>
            </a:endParaRPr>
          </a:p>
        </p:txBody>
      </p:sp>
      <p:sp>
        <p:nvSpPr>
          <p:cNvPr id="169" name="Google Shape;169;g3ec4c662846_0_288"/>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7</a:t>
            </a:r>
            <a:endParaRPr b="0" i="0" sz="3400" u="none" cap="none" strike="noStrike">
              <a:solidFill>
                <a:schemeClr val="lt1"/>
              </a:solidFill>
              <a:latin typeface="DM Sans Black"/>
              <a:ea typeface="DM Sans Black"/>
              <a:cs typeface="DM Sans Black"/>
              <a:sym typeface="DM Sans Black"/>
            </a:endParaRPr>
          </a:p>
        </p:txBody>
      </p:sp>
      <p:pic>
        <p:nvPicPr>
          <p:cNvPr id="170" name="Google Shape;170;g3ec4c662846_0_288" title="Diagrama de Componentes.drawio.png"/>
          <p:cNvPicPr preferRelativeResize="0"/>
          <p:nvPr/>
        </p:nvPicPr>
        <p:blipFill>
          <a:blip r:embed="rId4">
            <a:alphaModFix/>
          </a:blip>
          <a:stretch>
            <a:fillRect/>
          </a:stretch>
        </p:blipFill>
        <p:spPr>
          <a:xfrm>
            <a:off x="157163" y="1319850"/>
            <a:ext cx="17973675" cy="83058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74" name="Shape 174"/>
        <p:cNvGrpSpPr/>
        <p:nvPr/>
      </p:nvGrpSpPr>
      <p:grpSpPr>
        <a:xfrm>
          <a:off x="0" y="0"/>
          <a:ext cx="0" cy="0"/>
          <a:chOff x="0" y="0"/>
          <a:chExt cx="0" cy="0"/>
        </a:xfrm>
      </p:grpSpPr>
      <p:sp>
        <p:nvSpPr>
          <p:cNvPr id="175" name="Google Shape;175;g3ec4c662846_0_228"/>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76" name="Google Shape;176;g3ec4c662846_0_228"/>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77" name="Google Shape;177;g3ec4c662846_0_228"/>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Diagrama de secuencia CU </a:t>
            </a:r>
            <a:r>
              <a:rPr b="1" lang="en-US" sz="4800">
                <a:latin typeface="DM Sans"/>
                <a:ea typeface="DM Sans"/>
                <a:cs typeface="DM Sans"/>
                <a:sym typeface="DM Sans"/>
              </a:rPr>
              <a:t>18</a:t>
            </a:r>
            <a:r>
              <a:rPr b="1" i="0" lang="en-US" sz="4800" u="none" cap="none" strike="noStrike">
                <a:solidFill>
                  <a:srgbClr val="000000"/>
                </a:solidFill>
                <a:latin typeface="DM Sans"/>
                <a:ea typeface="DM Sans"/>
                <a:cs typeface="DM Sans"/>
                <a:sym typeface="DM Sans"/>
              </a:rPr>
              <a:t> - Flujo principal</a:t>
            </a:r>
            <a:endParaRPr b="1" i="0" sz="300" u="none" cap="none" strike="noStrike">
              <a:solidFill>
                <a:srgbClr val="000000"/>
              </a:solidFill>
              <a:latin typeface="DM Sans"/>
              <a:ea typeface="DM Sans"/>
              <a:cs typeface="DM Sans"/>
              <a:sym typeface="DM Sans"/>
            </a:endParaRPr>
          </a:p>
        </p:txBody>
      </p:sp>
      <p:sp>
        <p:nvSpPr>
          <p:cNvPr id="178" name="Google Shape;178;g3ec4c662846_0_228"/>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8</a:t>
            </a:r>
            <a:endParaRPr b="0" i="0" sz="3400" u="none" cap="none" strike="noStrike">
              <a:solidFill>
                <a:schemeClr val="lt1"/>
              </a:solidFill>
              <a:latin typeface="DM Sans Black"/>
              <a:ea typeface="DM Sans Black"/>
              <a:cs typeface="DM Sans Black"/>
              <a:sym typeface="DM Sans Black"/>
            </a:endParaRPr>
          </a:p>
        </p:txBody>
      </p:sp>
      <p:pic>
        <p:nvPicPr>
          <p:cNvPr id="179" name="Google Shape;179;g3ec4c662846_0_228"/>
          <p:cNvPicPr preferRelativeResize="0"/>
          <p:nvPr/>
        </p:nvPicPr>
        <p:blipFill>
          <a:blip r:embed="rId4">
            <a:alphaModFix/>
          </a:blip>
          <a:stretch>
            <a:fillRect/>
          </a:stretch>
        </p:blipFill>
        <p:spPr>
          <a:xfrm>
            <a:off x="68800" y="1166000"/>
            <a:ext cx="18150400" cy="90929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83" name="Shape 183"/>
        <p:cNvGrpSpPr/>
        <p:nvPr/>
      </p:nvGrpSpPr>
      <p:grpSpPr>
        <a:xfrm>
          <a:off x="0" y="0"/>
          <a:ext cx="0" cy="0"/>
          <a:chOff x="0" y="0"/>
          <a:chExt cx="0" cy="0"/>
        </a:xfrm>
      </p:grpSpPr>
      <p:sp>
        <p:nvSpPr>
          <p:cNvPr id="184" name="Google Shape;184;g3ec4c662846_0_261"/>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85" name="Google Shape;185;g3ec4c662846_0_261"/>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86" name="Google Shape;186;g3ec4c662846_0_261"/>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Diagrama de secuencia CU </a:t>
            </a:r>
            <a:r>
              <a:rPr b="1" lang="en-US" sz="4800">
                <a:latin typeface="DM Sans"/>
                <a:ea typeface="DM Sans"/>
                <a:cs typeface="DM Sans"/>
                <a:sym typeface="DM Sans"/>
              </a:rPr>
              <a:t>38</a:t>
            </a:r>
            <a:r>
              <a:rPr b="1" i="0" lang="en-US" sz="4800" u="none" cap="none" strike="noStrike">
                <a:solidFill>
                  <a:srgbClr val="000000"/>
                </a:solidFill>
                <a:latin typeface="DM Sans"/>
                <a:ea typeface="DM Sans"/>
                <a:cs typeface="DM Sans"/>
                <a:sym typeface="DM Sans"/>
              </a:rPr>
              <a:t> - Flujo principal</a:t>
            </a:r>
            <a:endParaRPr b="1" i="0" sz="300" u="none" cap="none" strike="noStrike">
              <a:solidFill>
                <a:srgbClr val="000000"/>
              </a:solidFill>
              <a:latin typeface="DM Sans"/>
              <a:ea typeface="DM Sans"/>
              <a:cs typeface="DM Sans"/>
              <a:sym typeface="DM Sans"/>
            </a:endParaRPr>
          </a:p>
        </p:txBody>
      </p:sp>
      <p:sp>
        <p:nvSpPr>
          <p:cNvPr id="187" name="Google Shape;187;g3ec4c662846_0_261"/>
          <p:cNvSpPr/>
          <p:nvPr/>
        </p:nvSpPr>
        <p:spPr>
          <a:xfrm>
            <a:off x="147575" y="426950"/>
            <a:ext cx="645900" cy="6459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400"/>
              <a:buFont typeface="Arial"/>
              <a:buNone/>
            </a:pPr>
            <a:r>
              <a:rPr b="0" i="0" lang="en-US" sz="3400" u="none" cap="none" strike="noStrike">
                <a:solidFill>
                  <a:schemeClr val="lt1"/>
                </a:solidFill>
                <a:latin typeface="DM Sans Black"/>
                <a:ea typeface="DM Sans Black"/>
                <a:cs typeface="DM Sans Black"/>
                <a:sym typeface="DM Sans Black"/>
              </a:rPr>
              <a:t>9</a:t>
            </a:r>
            <a:endParaRPr b="0" i="0" sz="3400" u="none" cap="none" strike="noStrike">
              <a:solidFill>
                <a:schemeClr val="lt1"/>
              </a:solidFill>
              <a:latin typeface="DM Sans Black"/>
              <a:ea typeface="DM Sans Black"/>
              <a:cs typeface="DM Sans Black"/>
              <a:sym typeface="DM Sans Black"/>
            </a:endParaRPr>
          </a:p>
        </p:txBody>
      </p:sp>
      <p:pic>
        <p:nvPicPr>
          <p:cNvPr id="188" name="Google Shape;188;g3ec4c662846_0_261"/>
          <p:cNvPicPr preferRelativeResize="0"/>
          <p:nvPr/>
        </p:nvPicPr>
        <p:blipFill>
          <a:blip r:embed="rId4">
            <a:alphaModFix/>
          </a:blip>
          <a:stretch>
            <a:fillRect/>
          </a:stretch>
        </p:blipFill>
        <p:spPr>
          <a:xfrm>
            <a:off x="0" y="2042825"/>
            <a:ext cx="18288000" cy="74205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192" name="Shape 192"/>
        <p:cNvGrpSpPr/>
        <p:nvPr/>
      </p:nvGrpSpPr>
      <p:grpSpPr>
        <a:xfrm>
          <a:off x="0" y="0"/>
          <a:ext cx="0" cy="0"/>
          <a:chOff x="0" y="0"/>
          <a:chExt cx="0" cy="0"/>
        </a:xfrm>
      </p:grpSpPr>
      <p:sp>
        <p:nvSpPr>
          <p:cNvPr id="193" name="Google Shape;193;g3ec6d24bafc_0_6"/>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94" name="Google Shape;194;g3ec6d24bafc_0_6"/>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195" name="Google Shape;195;g3ec6d24bafc_0_6"/>
          <p:cNvSpPr txBox="1"/>
          <p:nvPr/>
        </p:nvSpPr>
        <p:spPr>
          <a:xfrm>
            <a:off x="1010250" y="307100"/>
            <a:ext cx="16267500" cy="885600"/>
          </a:xfrm>
          <a:prstGeom prst="rect">
            <a:avLst/>
          </a:prstGeom>
          <a:noFill/>
          <a:ln>
            <a:noFill/>
          </a:ln>
        </p:spPr>
        <p:txBody>
          <a:bodyPr anchorCtr="0" anchor="t" bIns="0" lIns="0" spcFirstLastPara="1" rIns="0" wrap="square" tIns="0">
            <a:spAutoFit/>
          </a:bodyPr>
          <a:lstStyle/>
          <a:p>
            <a:pPr indent="0" lvl="0" marL="0" marR="0" rtl="0" algn="l">
              <a:lnSpc>
                <a:spcPct val="139990"/>
              </a:lnSpc>
              <a:spcBef>
                <a:spcPts val="0"/>
              </a:spcBef>
              <a:spcAft>
                <a:spcPts val="0"/>
              </a:spcAft>
              <a:buClr>
                <a:srgbClr val="000000"/>
              </a:buClr>
              <a:buSzPts val="5754"/>
              <a:buFont typeface="Arial"/>
              <a:buNone/>
            </a:pPr>
            <a:r>
              <a:rPr b="1" i="0" lang="en-US" sz="5754" u="none" cap="none" strike="noStrike">
                <a:solidFill>
                  <a:schemeClr val="dk1"/>
                </a:solidFill>
                <a:latin typeface="DM Sans"/>
                <a:ea typeface="DM Sans"/>
                <a:cs typeface="DM Sans"/>
                <a:sym typeface="DM Sans"/>
              </a:rPr>
              <a:t>Árbol de navegación</a:t>
            </a:r>
            <a:endParaRPr b="1" i="0" sz="5754" u="none" cap="none" strike="noStrike">
              <a:solidFill>
                <a:schemeClr val="dk1"/>
              </a:solidFill>
              <a:latin typeface="DM Sans"/>
              <a:ea typeface="DM Sans"/>
              <a:cs typeface="DM Sans"/>
              <a:sym typeface="DM Sans"/>
            </a:endParaRPr>
          </a:p>
        </p:txBody>
      </p:sp>
      <p:sp>
        <p:nvSpPr>
          <p:cNvPr id="196" name="Google Shape;196;g3ec6d24bafc_0_6"/>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DM Sans Black"/>
                <a:ea typeface="DM Sans Black"/>
                <a:cs typeface="DM Sans Black"/>
                <a:sym typeface="DM Sans Black"/>
              </a:rPr>
              <a:t>10</a:t>
            </a:r>
            <a:endParaRPr b="0" i="0" sz="1900" u="none" cap="none" strike="noStrike">
              <a:solidFill>
                <a:schemeClr val="lt1"/>
              </a:solidFill>
              <a:latin typeface="DM Sans Black"/>
              <a:ea typeface="DM Sans Black"/>
              <a:cs typeface="DM Sans Black"/>
              <a:sym typeface="DM Sans Black"/>
            </a:endParaRPr>
          </a:p>
        </p:txBody>
      </p:sp>
      <p:pic>
        <p:nvPicPr>
          <p:cNvPr id="197" name="Google Shape;197;g3ec6d24bafc_0_6" title="Arbol_de_Navegacion_Incremento_2.drawio.png"/>
          <p:cNvPicPr preferRelativeResize="0"/>
          <p:nvPr/>
        </p:nvPicPr>
        <p:blipFill>
          <a:blip r:embed="rId4">
            <a:alphaModFix/>
          </a:blip>
          <a:stretch>
            <a:fillRect/>
          </a:stretch>
        </p:blipFill>
        <p:spPr>
          <a:xfrm>
            <a:off x="2492250" y="1283325"/>
            <a:ext cx="13303501" cy="88344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01" name="Shape 201"/>
        <p:cNvGrpSpPr/>
        <p:nvPr/>
      </p:nvGrpSpPr>
      <p:grpSpPr>
        <a:xfrm>
          <a:off x="0" y="0"/>
          <a:ext cx="0" cy="0"/>
          <a:chOff x="0" y="0"/>
          <a:chExt cx="0" cy="0"/>
        </a:xfrm>
      </p:grpSpPr>
      <p:sp>
        <p:nvSpPr>
          <p:cNvPr id="202" name="Google Shape;202;g3ec4c662846_0_236"/>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03" name="Google Shape;203;g3ec4c662846_0_236"/>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04" name="Google Shape;204;g3ec4c662846_0_236"/>
          <p:cNvSpPr txBox="1"/>
          <p:nvPr/>
        </p:nvSpPr>
        <p:spPr>
          <a:xfrm>
            <a:off x="1010250" y="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Vistas del CU </a:t>
            </a:r>
            <a:r>
              <a:rPr b="1" lang="en-US" sz="4800">
                <a:latin typeface="DM Sans"/>
                <a:ea typeface="DM Sans"/>
                <a:cs typeface="DM Sans"/>
                <a:sym typeface="DM Sans"/>
              </a:rPr>
              <a:t>18</a:t>
            </a:r>
            <a:endParaRPr b="1" i="0" sz="300" u="none" cap="none" strike="noStrike">
              <a:solidFill>
                <a:srgbClr val="000000"/>
              </a:solidFill>
              <a:latin typeface="DM Sans"/>
              <a:ea typeface="DM Sans"/>
              <a:cs typeface="DM Sans"/>
              <a:sym typeface="DM Sans"/>
            </a:endParaRPr>
          </a:p>
        </p:txBody>
      </p:sp>
      <p:sp>
        <p:nvSpPr>
          <p:cNvPr id="205" name="Google Shape;205;g3ec4c662846_0_236"/>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DM Sans Black"/>
                <a:ea typeface="DM Sans Black"/>
                <a:cs typeface="DM Sans Black"/>
                <a:sym typeface="DM Sans Black"/>
              </a:rPr>
              <a:t>11</a:t>
            </a:r>
            <a:endParaRPr b="0" i="0" sz="1900" u="none" cap="none" strike="noStrike">
              <a:solidFill>
                <a:schemeClr val="lt1"/>
              </a:solidFill>
              <a:latin typeface="DM Sans Black"/>
              <a:ea typeface="DM Sans Black"/>
              <a:cs typeface="DM Sans Black"/>
              <a:sym typeface="DM Sans Black"/>
            </a:endParaRPr>
          </a:p>
        </p:txBody>
      </p:sp>
      <p:pic>
        <p:nvPicPr>
          <p:cNvPr id="206" name="Google Shape;206;g3ec4c662846_0_236"/>
          <p:cNvPicPr preferRelativeResize="0"/>
          <p:nvPr/>
        </p:nvPicPr>
        <p:blipFill>
          <a:blip r:embed="rId4">
            <a:alphaModFix/>
          </a:blip>
          <a:stretch>
            <a:fillRect/>
          </a:stretch>
        </p:blipFill>
        <p:spPr>
          <a:xfrm>
            <a:off x="3540249" y="738900"/>
            <a:ext cx="11207500" cy="945577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10" name="Shape 210"/>
        <p:cNvGrpSpPr/>
        <p:nvPr/>
      </p:nvGrpSpPr>
      <p:grpSpPr>
        <a:xfrm>
          <a:off x="0" y="0"/>
          <a:ext cx="0" cy="0"/>
          <a:chOff x="0" y="0"/>
          <a:chExt cx="0" cy="0"/>
        </a:xfrm>
      </p:grpSpPr>
      <p:sp>
        <p:nvSpPr>
          <p:cNvPr id="211" name="Google Shape;211;g3ec4c662846_0_271"/>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12" name="Google Shape;212;g3ec4c662846_0_271"/>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13" name="Google Shape;213;g3ec4c662846_0_271"/>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Vistas del CU </a:t>
            </a:r>
            <a:r>
              <a:rPr b="1" lang="en-US" sz="4800">
                <a:latin typeface="DM Sans"/>
                <a:ea typeface="DM Sans"/>
                <a:cs typeface="DM Sans"/>
                <a:sym typeface="DM Sans"/>
              </a:rPr>
              <a:t>38</a:t>
            </a:r>
            <a:endParaRPr b="1" i="0" sz="300" u="none" cap="none" strike="noStrike">
              <a:solidFill>
                <a:srgbClr val="000000"/>
              </a:solidFill>
              <a:latin typeface="DM Sans"/>
              <a:ea typeface="DM Sans"/>
              <a:cs typeface="DM Sans"/>
              <a:sym typeface="DM Sans"/>
            </a:endParaRPr>
          </a:p>
        </p:txBody>
      </p:sp>
      <p:sp>
        <p:nvSpPr>
          <p:cNvPr id="214" name="Google Shape;214;g3ec4c662846_0_271"/>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DM Sans Black"/>
                <a:ea typeface="DM Sans Black"/>
                <a:cs typeface="DM Sans Black"/>
                <a:sym typeface="DM Sans Black"/>
              </a:rPr>
              <a:t>12</a:t>
            </a:r>
            <a:endParaRPr b="0" i="0" sz="1900" u="none" cap="none" strike="noStrike">
              <a:solidFill>
                <a:schemeClr val="lt1"/>
              </a:solidFill>
              <a:latin typeface="DM Sans Black"/>
              <a:ea typeface="DM Sans Black"/>
              <a:cs typeface="DM Sans Black"/>
              <a:sym typeface="DM Sans Black"/>
            </a:endParaRPr>
          </a:p>
        </p:txBody>
      </p:sp>
      <p:pic>
        <p:nvPicPr>
          <p:cNvPr id="215" name="Google Shape;215;g3ec4c662846_0_271"/>
          <p:cNvPicPr preferRelativeResize="0"/>
          <p:nvPr/>
        </p:nvPicPr>
        <p:blipFill>
          <a:blip r:embed="rId4">
            <a:alphaModFix/>
          </a:blip>
          <a:stretch>
            <a:fillRect/>
          </a:stretch>
        </p:blipFill>
        <p:spPr>
          <a:xfrm>
            <a:off x="535075" y="1046000"/>
            <a:ext cx="17041492" cy="924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19" name="Shape 219"/>
        <p:cNvGrpSpPr/>
        <p:nvPr/>
      </p:nvGrpSpPr>
      <p:grpSpPr>
        <a:xfrm>
          <a:off x="0" y="0"/>
          <a:ext cx="0" cy="0"/>
          <a:chOff x="0" y="0"/>
          <a:chExt cx="0" cy="0"/>
        </a:xfrm>
      </p:grpSpPr>
      <p:sp>
        <p:nvSpPr>
          <p:cNvPr id="220" name="Google Shape;220;g3ec4c662846_0_297"/>
          <p:cNvSpPr/>
          <p:nvPr/>
        </p:nvSpPr>
        <p:spPr>
          <a:xfrm flipH="1" rot="3509744">
            <a:off x="-12348600" y="-2269574"/>
            <a:ext cx="22536371" cy="818503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21" name="Google Shape;221;g3ec4c662846_0_297"/>
          <p:cNvSpPr/>
          <p:nvPr/>
        </p:nvSpPr>
        <p:spPr>
          <a:xfrm rot="-2998448">
            <a:off x="7758840" y="638680"/>
            <a:ext cx="22516850" cy="8177944"/>
          </a:xfrm>
          <a:custGeom>
            <a:rect b="b" l="l" r="r" t="t"/>
            <a:pathLst>
              <a:path extrusionOk="0" h="8186006" w="22539048">
                <a:moveTo>
                  <a:pt x="22539048" y="0"/>
                </a:moveTo>
                <a:lnTo>
                  <a:pt x="0" y="0"/>
                </a:lnTo>
                <a:lnTo>
                  <a:pt x="0" y="8186006"/>
                </a:lnTo>
                <a:lnTo>
                  <a:pt x="22539048" y="8186006"/>
                </a:lnTo>
                <a:lnTo>
                  <a:pt x="22539048" y="0"/>
                </a:lnTo>
                <a:close/>
              </a:path>
            </a:pathLst>
          </a:custGeom>
          <a:blipFill rotWithShape="1">
            <a:blip r:embed="rId3">
              <a:alphaModFix/>
            </a:blip>
            <a:stretch>
              <a:fillRect b="0" l="0" r="0" t="0"/>
            </a:stretch>
          </a:blipFill>
          <a:ln>
            <a:noFill/>
          </a:ln>
        </p:spPr>
      </p:sp>
      <p:sp>
        <p:nvSpPr>
          <p:cNvPr id="222" name="Google Shape;222;g3ec4c662846_0_297"/>
          <p:cNvSpPr txBox="1"/>
          <p:nvPr/>
        </p:nvSpPr>
        <p:spPr>
          <a:xfrm>
            <a:off x="1010250" y="307100"/>
            <a:ext cx="16267500" cy="738900"/>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Clr>
                <a:srgbClr val="000000"/>
              </a:buClr>
              <a:buSzPts val="4800"/>
              <a:buFont typeface="Arial"/>
              <a:buNone/>
            </a:pPr>
            <a:r>
              <a:rPr b="1" i="0" lang="en-US" sz="4800" u="none" cap="none" strike="noStrike">
                <a:solidFill>
                  <a:srgbClr val="000000"/>
                </a:solidFill>
                <a:latin typeface="DM Sans"/>
                <a:ea typeface="DM Sans"/>
                <a:cs typeface="DM Sans"/>
                <a:sym typeface="DM Sans"/>
              </a:rPr>
              <a:t>Trazabilidad Scrum ++ / Backlog</a:t>
            </a:r>
            <a:endParaRPr b="1" i="0" sz="300" u="none" cap="none" strike="noStrike">
              <a:solidFill>
                <a:srgbClr val="000000"/>
              </a:solidFill>
              <a:latin typeface="DM Sans"/>
              <a:ea typeface="DM Sans"/>
              <a:cs typeface="DM Sans"/>
              <a:sym typeface="DM Sans"/>
            </a:endParaRPr>
          </a:p>
        </p:txBody>
      </p:sp>
      <p:sp>
        <p:nvSpPr>
          <p:cNvPr id="223" name="Google Shape;223;g3ec4c662846_0_297"/>
          <p:cNvSpPr txBox="1"/>
          <p:nvPr/>
        </p:nvSpPr>
        <p:spPr>
          <a:xfrm>
            <a:off x="12542670" y="1453567"/>
            <a:ext cx="5139900" cy="319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890"/>
              </a:spcAft>
              <a:buClr>
                <a:srgbClr val="000000"/>
              </a:buClr>
              <a:buSzPts val="2076"/>
              <a:buFont typeface="Arial"/>
              <a:buNone/>
            </a:pPr>
            <a:r>
              <a:t/>
            </a:r>
            <a:endParaRPr b="0" i="0" sz="2076" u="none" cap="none" strike="noStrike">
              <a:solidFill>
                <a:srgbClr val="000000"/>
              </a:solidFill>
              <a:latin typeface="DM Sans"/>
              <a:ea typeface="DM Sans"/>
              <a:cs typeface="DM Sans"/>
              <a:sym typeface="DM Sans"/>
            </a:endParaRPr>
          </a:p>
        </p:txBody>
      </p:sp>
      <p:sp>
        <p:nvSpPr>
          <p:cNvPr id="224" name="Google Shape;224;g3ec4c662846_0_297"/>
          <p:cNvSpPr/>
          <p:nvPr/>
        </p:nvSpPr>
        <p:spPr>
          <a:xfrm>
            <a:off x="142175" y="382700"/>
            <a:ext cx="735300" cy="734400"/>
          </a:xfrm>
          <a:prstGeom prst="ellipse">
            <a:avLst/>
          </a:prstGeom>
          <a:solidFill>
            <a:srgbClr val="888888"/>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chemeClr val="lt1"/>
                </a:solidFill>
                <a:latin typeface="DM Sans Black"/>
                <a:ea typeface="DM Sans Black"/>
                <a:cs typeface="DM Sans Black"/>
                <a:sym typeface="DM Sans Black"/>
              </a:rPr>
              <a:t>13</a:t>
            </a:r>
            <a:endParaRPr b="0" i="0" sz="2400" u="none" cap="none" strike="noStrike">
              <a:solidFill>
                <a:schemeClr val="lt1"/>
              </a:solidFill>
              <a:latin typeface="DM Sans Black"/>
              <a:ea typeface="DM Sans Black"/>
              <a:cs typeface="DM Sans Black"/>
              <a:sym typeface="DM Sans Black"/>
            </a:endParaRPr>
          </a:p>
        </p:txBody>
      </p:sp>
      <p:pic>
        <p:nvPicPr>
          <p:cNvPr id="225" name="Google Shape;225;g3ec4c662846_0_297"/>
          <p:cNvPicPr preferRelativeResize="0"/>
          <p:nvPr/>
        </p:nvPicPr>
        <p:blipFill>
          <a:blip r:embed="rId4">
            <a:alphaModFix/>
          </a:blip>
          <a:stretch>
            <a:fillRect/>
          </a:stretch>
        </p:blipFill>
        <p:spPr>
          <a:xfrm>
            <a:off x="2052201" y="1453575"/>
            <a:ext cx="14507201" cy="70319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DD7EE"/>
        </a:solidFill>
      </p:bgPr>
    </p:bg>
    <p:spTree>
      <p:nvGrpSpPr>
        <p:cNvPr id="229" name="Shape 229"/>
        <p:cNvGrpSpPr/>
        <p:nvPr/>
      </p:nvGrpSpPr>
      <p:grpSpPr>
        <a:xfrm>
          <a:off x="0" y="0"/>
          <a:ext cx="0" cy="0"/>
          <a:chOff x="0" y="0"/>
          <a:chExt cx="0" cy="0"/>
        </a:xfrm>
      </p:grpSpPr>
      <p:sp>
        <p:nvSpPr>
          <p:cNvPr id="230" name="Google Shape;230;p11"/>
          <p:cNvSpPr txBox="1"/>
          <p:nvPr/>
        </p:nvSpPr>
        <p:spPr>
          <a:xfrm>
            <a:off x="1975204" y="4404290"/>
            <a:ext cx="14337600" cy="1478400"/>
          </a:xfrm>
          <a:prstGeom prst="rect">
            <a:avLst/>
          </a:prstGeom>
          <a:noFill/>
          <a:ln>
            <a:noFill/>
          </a:ln>
        </p:spPr>
        <p:txBody>
          <a:bodyPr anchorCtr="0" anchor="ctr" bIns="0" lIns="0" spcFirstLastPara="1" rIns="0" wrap="square" tIns="0">
            <a:noAutofit/>
          </a:bodyPr>
          <a:lstStyle/>
          <a:p>
            <a:pPr indent="0" lvl="0" marL="0" marR="0" rtl="0" algn="ctr">
              <a:lnSpc>
                <a:spcPct val="115002"/>
              </a:lnSpc>
              <a:spcBef>
                <a:spcPts val="0"/>
              </a:spcBef>
              <a:spcAft>
                <a:spcPts val="0"/>
              </a:spcAft>
              <a:buClr>
                <a:srgbClr val="000000"/>
              </a:buClr>
              <a:buSzPts val="9605"/>
              <a:buFont typeface="Arial"/>
              <a:buNone/>
            </a:pPr>
            <a:r>
              <a:rPr b="0" i="0" lang="en-US" sz="9605" u="none" cap="none" strike="noStrike">
                <a:solidFill>
                  <a:srgbClr val="000000"/>
                </a:solidFill>
                <a:latin typeface="DM Sans Black"/>
                <a:ea typeface="DM Sans Black"/>
                <a:cs typeface="DM Sans Black"/>
                <a:sym typeface="DM Sans Black"/>
              </a:rPr>
              <a:t>¡GRACIAS!</a:t>
            </a:r>
            <a:endParaRPr b="0" i="0" sz="1400" u="none" cap="none" strike="noStrike">
              <a:solidFill>
                <a:srgbClr val="000000"/>
              </a:solidFill>
              <a:latin typeface="DM Sans Black"/>
              <a:ea typeface="DM Sans Black"/>
              <a:cs typeface="DM Sans Black"/>
              <a:sym typeface="DM Sans Blac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