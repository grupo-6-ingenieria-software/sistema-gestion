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DM Sans Black"/>
      <p:bold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KFm2mpu0ehDTPipSNq1NMWGh0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61D335-3637-4CF8-BBD8-4EC99D5CF217}">
  <a:tblStyle styleId="{9261D335-3637-4CF8-BBD8-4EC99D5CF2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7050849-A03F-4E39-BA21-DED0FB5DE5F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DMSansBlack-bold.fntdata"/><Relationship Id="rId21" Type="http://schemas.openxmlformats.org/officeDocument/2006/relationships/slide" Target="slides/slide16.xml"/><Relationship Id="rId24" Type="http://schemas.openxmlformats.org/officeDocument/2006/relationships/font" Target="fonts/DMSans-regular.fntdata"/><Relationship Id="rId23" Type="http://schemas.openxmlformats.org/officeDocument/2006/relationships/font" Target="fonts/DMSansBla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537cf9e0562472df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h537cf9e0562472df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h537cf9e0562472df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 rot="-2322274">
            <a:off x="-5350033" y="823172"/>
            <a:ext cx="32311660" cy="8158694"/>
          </a:xfrm>
          <a:custGeom>
            <a:rect b="b" l="l" r="r" t="t"/>
            <a:pathLst>
              <a:path extrusionOk="0" h="8162674" w="32327423">
                <a:moveTo>
                  <a:pt x="0" y="0"/>
                </a:moveTo>
                <a:lnTo>
                  <a:pt x="32327423" y="0"/>
                </a:lnTo>
                <a:lnTo>
                  <a:pt x="32327423" y="8162675"/>
                </a:lnTo>
                <a:lnTo>
                  <a:pt x="0" y="8162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123600" y="2305625"/>
            <a:ext cx="109722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SISTEMA DE GESTIÓN PARA</a:t>
            </a:r>
            <a:endParaRPr b="0" i="0" sz="6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  <a:p>
            <a:pPr indent="0" lvl="0" marL="0" marR="0" rtl="0" algn="l">
              <a:lnSpc>
                <a:spcPct val="108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MINIMARKET Y PANADERÍA HUÁSCAR</a:t>
            </a:r>
            <a:endParaRPr b="0" i="0" sz="6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123600" y="5580723"/>
            <a:ext cx="62475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606060"/>
                </a:solidFill>
                <a:latin typeface="DM Sans"/>
                <a:ea typeface="DM Sans"/>
                <a:cs typeface="DM Sans"/>
                <a:sym typeface="DM Sans"/>
              </a:rPr>
              <a:t>Integrantes</a:t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Vicente Aravena Santa María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Clemente Carreño Becerra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Benjamín Huerta Mallea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Bastián Ibañez Martínez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Joao Morales Zavaleta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Renato Navarro Monje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Tomás Núñez Montagna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606060"/>
                </a:solidFill>
                <a:latin typeface="DM Sans"/>
                <a:ea typeface="DM Sans"/>
                <a:cs typeface="DM Sans"/>
                <a:sym typeface="DM Sans"/>
              </a:rPr>
              <a:t>Profesor</a:t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Paulo Quinsacara Jofré</a:t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3200" y="3429000"/>
            <a:ext cx="8684800" cy="6513600"/>
          </a:xfrm>
          <a:prstGeom prst="rect">
            <a:avLst/>
          </a:prstGeom>
          <a:noFill/>
          <a:ln>
            <a:noFill/>
          </a:ln>
          <a:effectLst>
            <a:outerShdw blurRad="757238" rotWithShape="0" algn="bl" dir="5400000" dist="352425">
              <a:srgbClr val="000000">
                <a:alpha val="38824"/>
              </a:srgbClr>
            </a:outerShdw>
          </a:effectLst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425" y="189175"/>
            <a:ext cx="4615199" cy="15413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1052975" y="1747700"/>
            <a:ext cx="1115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Grupo 6:</a:t>
            </a:r>
            <a:endParaRPr b="1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739225" y="621325"/>
            <a:ext cx="9666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INCREMENTO 3</a:t>
            </a:r>
            <a:endParaRPr b="0" i="0" sz="5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010250" y="307100"/>
            <a:ext cx="162675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4"/>
              <a:buFont typeface="Arial"/>
              <a:buNone/>
            </a:pPr>
            <a:r>
              <a:rPr b="1" i="0" lang="en-US" sz="5754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Índice de contenidos</a:t>
            </a:r>
            <a:endParaRPr b="1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17450" y="1720275"/>
            <a:ext cx="9107700" cy="8392500"/>
          </a:xfrm>
          <a:prstGeom prst="roundRect">
            <a:avLst>
              <a:gd fmla="val 3636" name="adj"/>
            </a:avLst>
          </a:prstGeom>
          <a:solidFill>
            <a:srgbClr val="EAEBE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213050" y="1887374"/>
            <a:ext cx="8716500" cy="8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1. Contextualización y alcance del Incremento 3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2. RF45 y CU45: venta por categoría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3. RF53 y CU53: movimientos de inventario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4. Arquitectura 4+1 del Incremento 3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b="1" lang="en-US" sz="255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6. Vista lógica: modelo físico y trazabilidad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7. Vista de desarrollo: componentes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8. Secuencia CU45: flujo principal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9. Secuencia CU53: flujo principal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10. Árbol de navegación acumulado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11. Vistas y evidencia del CU45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12. Vistas y evidencia del CU53</a:t>
            </a:r>
            <a:endParaRPr b="1" i="0" sz="2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5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13. Trazabilidad Scrum++ y Backlog</a:t>
            </a:r>
            <a:endParaRPr b="1" i="0" sz="279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5450" y="1424913"/>
            <a:ext cx="11155776" cy="743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 flipH="1" rot="3509744">
            <a:off x="-12257000" y="-2251249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1010250" y="307100"/>
            <a:ext cx="162675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4"/>
              <a:buFont typeface="Arial"/>
              <a:buNone/>
            </a:pPr>
            <a:r>
              <a:rPr b="1" i="0" lang="en-US" sz="5754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Contextualización</a:t>
            </a:r>
            <a:endParaRPr b="1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017450" y="1720275"/>
            <a:ext cx="9107700" cy="2413500"/>
          </a:xfrm>
          <a:prstGeom prst="roundRect">
            <a:avLst>
              <a:gd fmla="val 3636" name="adj"/>
            </a:avLst>
          </a:prstGeom>
          <a:solidFill>
            <a:srgbClr val="EAEBE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213050" y="1887375"/>
            <a:ext cx="8763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Problemática: Los procesos manuales dificultan el control del inventario, las ventas y la asistencia del personal. El negocio necesita registros confiables para operar y evaluar sus resultados.</a:t>
            </a:r>
            <a:endParaRPr b="0" i="0" sz="25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040850" y="4351975"/>
            <a:ext cx="9107700" cy="1532700"/>
          </a:xfrm>
          <a:prstGeom prst="roundRect">
            <a:avLst>
              <a:gd fmla="val 3636" name="adj"/>
            </a:avLst>
          </a:prstGeom>
          <a:solidFill>
            <a:srgbClr val="EAEBE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236450" y="4519075"/>
            <a:ext cx="8763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Solución: Aplicación de escritorio en Electron, React y Node.js con persistencia local en SQLite/libSQL. Integra la operación diaria con reportes y exportaciones.</a:t>
            </a:r>
            <a:endParaRPr b="0" i="0" sz="25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017450" y="6439175"/>
            <a:ext cx="9107700" cy="2574900"/>
          </a:xfrm>
          <a:prstGeom prst="roundRect">
            <a:avLst>
              <a:gd fmla="val 3636" name="adj"/>
            </a:avLst>
          </a:prstGeom>
          <a:solidFill>
            <a:srgbClr val="EAEBE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213050" y="6606275"/>
            <a:ext cx="8763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Alcance del Incremento 3: 18 RF nuevos de prioridades 3 y 4, un 29,0 % del proyecto. Se suman a los 19 RF del Incremento 1 y los 25 del Incremento 2: 62 de 62 RF, un 100% acumulado según el informe.</a:t>
            </a:r>
            <a:endParaRPr b="0" i="0" sz="25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1730" l="0" r="0" t="-1730"/>
          <a:stretch/>
        </p:blipFill>
        <p:spPr>
          <a:xfrm>
            <a:off x="9827100" y="2428587"/>
            <a:ext cx="8460899" cy="634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1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 flipH="1" rot="3509744">
            <a:off x="-12439450" y="-188352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57700" y="30570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2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graphicFrame>
        <p:nvGraphicFramePr>
          <p:cNvPr id="131" name="Google Shape;131;p4"/>
          <p:cNvGraphicFramePr/>
          <p:nvPr/>
        </p:nvGraphicFramePr>
        <p:xfrm>
          <a:off x="1010250" y="10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{9261D335-3637-4CF8-BBD8-4EC99D5CF217}</a:tableStyleId>
              </a:tblPr>
              <a:tblGrid>
                <a:gridCol w="1165675"/>
                <a:gridCol w="5439775"/>
                <a:gridCol w="1554225"/>
                <a:gridCol w="1580125"/>
                <a:gridCol w="1735550"/>
                <a:gridCol w="1502400"/>
                <a:gridCol w="2150000"/>
                <a:gridCol w="1139750"/>
              </a:tblGrid>
              <a:tr h="68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Necesidad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Estabilidad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Verificabilidad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Fuente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225800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5.- GESTIÓN DE VENTAS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5.10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Venta por categoría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03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RF45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202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confirmar una venta, el sistema incluye la categoría vigente de cada producto en el comprobante y conserva su referencia al precio histórico. Permite consultar ventas vigentes por período y agrupar unidades e ingreso neto por categoría. Distribuye proporcionalmente el descuento global, de modo que la suma coincide con el total final. El Dueño consulta todas las ventas y el Trabajador solo las propias. Un rango inválido impide consultar. Sin ventas, muestra el desglose vacío y totales en cero.</a:t>
                      </a:r>
                      <a:endParaRPr i="1"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32" name="Google Shape;132;p4"/>
          <p:cNvGraphicFramePr/>
          <p:nvPr/>
        </p:nvGraphicFramePr>
        <p:xfrm>
          <a:off x="1010238" y="469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{17050849-A03F-4E39-BA21-DED0FB5DE5F0}</a:tableStyleId>
              </a:tblPr>
              <a:tblGrid>
                <a:gridCol w="2511200"/>
                <a:gridCol w="7891800"/>
                <a:gridCol w="5864500"/>
              </a:tblGrid>
              <a:tr h="742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</a:rPr>
                        <a:t>Ficha Caso de uso</a:t>
                      </a:r>
                      <a:endParaRPr b="1" sz="3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5C8B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</a:rPr>
                        <a:t>Descripción del caso de uso</a:t>
                      </a:r>
                      <a:endParaRPr b="1" sz="3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5C8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F4E79"/>
                          </a:solidFill>
                        </a:rPr>
                        <a:t>Actor(es)</a:t>
                      </a:r>
                      <a:endParaRPr b="1" sz="21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Dueño y Trabajador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 V12, C16 confirma la venta y UI09 muestra las categorías. Luego, el actor consulta un período en V35. C49 valida sesión, rol y fechas, obtiene las ventas vigentes y limita al Trabajador a las propias. Distribuye descuentos y agrupa por categoría. V35 muestra unidades e ingreso neto.</a:t>
                      </a:r>
                      <a:endParaRPr sz="22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F4E79"/>
                          </a:solidFill>
                        </a:rPr>
                        <a:t>Frecuencia</a:t>
                      </a:r>
                      <a:endParaRPr b="1" sz="21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 cada venta y al consultar un período.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129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F4E79"/>
                          </a:solidFill>
                        </a:rPr>
                        <a:t>Precondiciones</a:t>
                      </a:r>
                      <a:endParaRPr b="1" sz="21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Sesión activa y permisos. Para registrar: carrito con productos y caja abierta. Para consultar: rango válido.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10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F4E79"/>
                          </a:solidFill>
                        </a:rPr>
                        <a:t>Postcondiciones</a:t>
                      </a:r>
                      <a:endParaRPr b="1" sz="21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Venta confirmada con categoría en el comprobante o desglose por categoría según el rol.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F4E79"/>
                          </a:solidFill>
                        </a:rPr>
                        <a:t>Dependencias</a:t>
                      </a:r>
                      <a:endParaRPr b="1" sz="21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RF45 y RF57. Reutiliza registro de ventas.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133" name="Google Shape;133;p4"/>
          <p:cNvSpPr/>
          <p:nvPr/>
        </p:nvSpPr>
        <p:spPr>
          <a:xfrm>
            <a:off x="1009650" y="247650"/>
            <a:ext cx="1638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RF45 y CU45: Venta por categoría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41" name="Google Shape;141;p5"/>
          <p:cNvGraphicFramePr/>
          <p:nvPr/>
        </p:nvGraphicFramePr>
        <p:xfrm>
          <a:off x="1024825" y="1049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{9261D335-3637-4CF8-BBD8-4EC99D5CF217}</a:tableStyleId>
              </a:tblPr>
              <a:tblGrid>
                <a:gridCol w="1165675"/>
                <a:gridCol w="5439775"/>
                <a:gridCol w="1554225"/>
                <a:gridCol w="1580125"/>
                <a:gridCol w="1735550"/>
                <a:gridCol w="1502400"/>
                <a:gridCol w="2150000"/>
                <a:gridCol w="1139750"/>
              </a:tblGrid>
              <a:tr h="68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Necesidad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Estabilidad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Verificabilidad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Fuente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225800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6.- REPORTES Y EXPORTACIÓN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Movimientos de inventario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03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RF53</a:t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202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reunir los movimientos de stock del período: recepción, venta, restitución por anulación, merma y ajuste manual. Muestra fecha/hora, producto, EAN-13, categoría, cantidad con signo, stock resultante y responsable, con resumen por tipo. Calcula el stock sobre la secuencia completa antes de filtrar por fecha, tipo, categoría o usuario. Sin movimientos, informa el período vacío. Un rango de fechas invertido impide generar el reporte. RF54 permite exportarlo en PDF o Excel.</a:t>
                      </a:r>
                      <a:endParaRPr i="1" sz="3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42" name="Google Shape;142;p5"/>
          <p:cNvSpPr/>
          <p:nvPr/>
        </p:nvSpPr>
        <p:spPr>
          <a:xfrm>
            <a:off x="147575" y="30740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3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1039375" y="46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{17050849-A03F-4E39-BA21-DED0FB5DE5F0}</a:tableStyleId>
              </a:tblPr>
              <a:tblGrid>
                <a:gridCol w="2280125"/>
                <a:gridCol w="5969200"/>
                <a:gridCol w="7989075"/>
              </a:tblGrid>
              <a:tr h="742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en-US" sz="3100" u="none" cap="none" strike="noStrike">
                          <a:solidFill>
                            <a:srgbClr val="FFFFFF"/>
                          </a:solidFill>
                        </a:rPr>
                        <a:t>Ficha Caso de uso</a:t>
                      </a:r>
                      <a:endParaRPr b="1" sz="3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5C8B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en-US" sz="3100" u="none" cap="none" strike="noStrike">
                          <a:solidFill>
                            <a:srgbClr val="FFFFFF"/>
                          </a:solidFill>
                        </a:rPr>
                        <a:t>Descripción del caso de uso</a:t>
                      </a:r>
                      <a:endParaRPr b="1" sz="3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5C8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4E79"/>
                          </a:solidFill>
                        </a:rPr>
                        <a:t>Actor(es)</a:t>
                      </a:r>
                      <a:endParaRPr b="1" sz="20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Dueño</a:t>
                      </a:r>
                      <a:endParaRPr sz="20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 Dueño define filtros en V44. C60 valida acceso y fechas, y reutiliza C28 para reconstruir los movimientos de todos los productos. Calcula los saldos antes de filtrar y resume por tipo. V44 muestra el resultado. C61 genera PDF o Excel y C04 registra la exportación.</a:t>
                      </a:r>
                      <a:endParaRPr sz="21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4E79"/>
                          </a:solidFill>
                        </a:rPr>
                        <a:t>Frecuencia</a:t>
                      </a:r>
                      <a:endParaRPr b="1" sz="20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Según necesidad de control del inventario.</a:t>
                      </a:r>
                      <a:endParaRPr sz="20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129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4E79"/>
                          </a:solidFill>
                        </a:rPr>
                        <a:t>Precondiciones</a:t>
                      </a:r>
                      <a:endParaRPr b="1" sz="20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Sesión activa con rol </a:t>
                      </a:r>
                      <a:r>
                        <a:rPr lang="en-US" sz="210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“</a:t>
                      </a: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Dueño</a:t>
                      </a:r>
                      <a:r>
                        <a:rPr lang="en-US" sz="210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”</a:t>
                      </a: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 Rango de fechas válido.</a:t>
                      </a:r>
                      <a:endParaRPr sz="20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10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4E79"/>
                          </a:solidFill>
                        </a:rPr>
                        <a:t>Postcondiciones</a:t>
                      </a:r>
                      <a:endParaRPr b="1" sz="20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Reporte filtrado con saldos y resumen. Exportación disponible cuando hay datos.</a:t>
                      </a:r>
                      <a:endParaRPr sz="20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F4E79"/>
                          </a:solidFill>
                        </a:rPr>
                        <a:t>Dependencias</a:t>
                      </a:r>
                      <a:endParaRPr b="1" sz="2000" u="none" cap="none" strike="noStrike">
                        <a:solidFill>
                          <a:srgbClr val="1F4E79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RF53 y RF54. Reutiliza el historial de movimientos.</a:t>
                      </a:r>
                      <a:endParaRPr sz="200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91425" marB="91425" marR="91425" marL="9142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144" name="Google Shape;144;p5"/>
          <p:cNvSpPr/>
          <p:nvPr/>
        </p:nvSpPr>
        <p:spPr>
          <a:xfrm>
            <a:off x="1009650" y="247650"/>
            <a:ext cx="1638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RF53 y CU53: Movimientos de inventario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 rot="-2998448">
            <a:off x="7662415" y="79943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6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4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Arquitectura 4+1</a:t>
            </a:r>
            <a:endParaRPr b="1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4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231" y="1871038"/>
            <a:ext cx="16469297" cy="7148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 flipH="1" rot="3509744">
            <a:off x="-11694950" y="-1927199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Vista lógica: Modelo Físico (Extracto)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5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502" y="1219200"/>
            <a:ext cx="15137650" cy="8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 flipH="1" rot="3509744">
            <a:off x="-11694950" y="-1927199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8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Vista lógica: </a:t>
            </a:r>
            <a:r>
              <a:rPr b="1" lang="en-US" sz="4500"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1" i="0" lang="en-U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odelo </a:t>
            </a:r>
            <a:r>
              <a:rPr b="1" lang="en-US" sz="4500"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b="1" i="0" lang="en-US" sz="4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ísico acumulado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6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5504" y="1524000"/>
            <a:ext cx="13996992" cy="75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9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9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Vista de desarrollo: componentes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7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184" name="Google Shape;1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7050" y="1438275"/>
            <a:ext cx="15537925" cy="71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0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Secuencia CU45: venta por categoría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8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2858750" y="1809750"/>
            <a:ext cx="4524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Flujo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2858750" y="2667000"/>
            <a:ext cx="4524375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1. V12 confirma la venta mediante C16.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2. UI09 muestra la categoría vigente de cada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3. El actor consulta fechas en V35.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4. C49 valida acceso y limita al Trabajador a sus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5. Distribuye descuentos y entrega el desglose por categoría.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018813" y="9496425"/>
            <a:ext cx="11215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Sin ventas: desglose vacío y totales en cero. Rango invertido: consulta rechazada.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6502" y="1072850"/>
            <a:ext cx="9220424" cy="842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1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1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Secuencia CU53: movimientos de inventario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47575" y="426950"/>
            <a:ext cx="645900" cy="6459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9</a:t>
            </a:r>
            <a:endParaRPr b="0" i="0" sz="3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2858750" y="1809750"/>
            <a:ext cx="4524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Flujo principal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2858750" y="2667000"/>
            <a:ext cx="4524375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1. Dueño define filtros en V44.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2. C60 valida sesión, rol y fechas.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3. C28 reúne ingresos, ventas, restituciones, mermas y ajustes.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4. Calcula saldos y después aplica filtros. Resume por tipo.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5. V44 muestra el reporte. C61 exporta y C04 audita.</a:t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1451838" y="9482025"/>
            <a:ext cx="9354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Sin movimientos: período vacío. Rango invertido: error y sin reporte.</a:t>
            </a:r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300" y="1072838"/>
            <a:ext cx="9447076" cy="84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2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2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54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Árbol de navegación acumulado</a:t>
            </a:r>
            <a:endParaRPr b="1" i="0" sz="5754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42175" y="382700"/>
            <a:ext cx="735300" cy="7344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10</a:t>
            </a:r>
            <a:endParaRPr b="0" i="0" sz="19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220" name="Google Shape;2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802" y="1381125"/>
            <a:ext cx="11937647" cy="83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13239750" y="1905000"/>
            <a:ext cx="4286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Rutas de la demostración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3239750" y="3095625"/>
            <a:ext cx="428625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V01 Login y V05 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t/>
            </a:r>
            <a:endParaRPr b="0" i="0" sz="247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Ventas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V12 confirma y V35 agrupa</a:t>
            </a:r>
            <a:endParaRPr b="0" i="0" sz="247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Dueño y Trabajador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t/>
            </a:r>
            <a:endParaRPr b="0" i="0" sz="247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Reportes del Dueño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V44 Movimientos</a:t>
            </a:r>
            <a:endParaRPr b="0" i="0" sz="2475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UI06 exporta PDF o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3239750" y="8524875"/>
            <a:ext cx="42862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Azul: Incremento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Verde: Incremento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Naranja: Incremento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3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3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650">
                <a:latin typeface="DM Sans"/>
                <a:ea typeface="DM Sans"/>
                <a:cs typeface="DM Sans"/>
                <a:sym typeface="DM Sans"/>
              </a:rPr>
              <a:t>CU</a:t>
            </a:r>
            <a:r>
              <a:rPr b="1" i="0" lang="en-US" sz="4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45: venta y desglose por categoría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42175" y="382700"/>
            <a:ext cx="735300" cy="7344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11</a:t>
            </a:r>
            <a:endParaRPr b="0" i="0" sz="19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3335000" y="1666875"/>
            <a:ext cx="4286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CU45 / RF45 / CP52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3430250" y="5810250"/>
            <a:ext cx="419100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Categoría vigente y descuentos proporcionales.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Dueño: todas las ventas. Trabajador: solo las propias.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Sin ventas: totales en cero. Fechas invertidas: error.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1720466"/>
            <a:ext cx="12192000" cy="646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0250" y="2951138"/>
            <a:ext cx="4048125" cy="21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4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4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650">
                <a:latin typeface="DM Sans"/>
                <a:ea typeface="DM Sans"/>
                <a:cs typeface="DM Sans"/>
                <a:sym typeface="DM Sans"/>
              </a:rPr>
              <a:t>CU53</a:t>
            </a:r>
            <a:r>
              <a:rPr b="1" i="0" lang="en-US" sz="4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movimientos de inventario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142175" y="382700"/>
            <a:ext cx="735300" cy="7344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12</a:t>
            </a:r>
            <a:endParaRPr b="0" i="0" sz="19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13335000" y="1714500"/>
            <a:ext cx="4286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CU53 / RF53 / CP60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13430250" y="7572375"/>
            <a:ext cx="4191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Filtros y stock resultante.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17365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7365D"/>
                </a:solidFill>
                <a:latin typeface="DM Sans"/>
                <a:ea typeface="DM Sans"/>
                <a:cs typeface="DM Sans"/>
                <a:sym typeface="DM Sans"/>
              </a:rPr>
              <a:t>PDF y Excel mediante CU54. Auditoría con CU58.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1730174"/>
            <a:ext cx="12192000" cy="6636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0250" y="2722480"/>
            <a:ext cx="4048125" cy="222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30250" y="5089545"/>
            <a:ext cx="4048125" cy="220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 flipH="1" rot="3509744">
            <a:off x="-12348600" y="-2269574"/>
            <a:ext cx="22536371" cy="818503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5"/>
          <p:cNvSpPr/>
          <p:nvPr/>
        </p:nvSpPr>
        <p:spPr>
          <a:xfrm rot="-2998448">
            <a:off x="7758840" y="638680"/>
            <a:ext cx="22516850" cy="8177944"/>
          </a:xfrm>
          <a:custGeom>
            <a:rect b="b" l="l" r="r" t="t"/>
            <a:pathLst>
              <a:path extrusionOk="0" h="8186006" w="22539048">
                <a:moveTo>
                  <a:pt x="22539048" y="0"/>
                </a:moveTo>
                <a:lnTo>
                  <a:pt x="0" y="0"/>
                </a:lnTo>
                <a:lnTo>
                  <a:pt x="0" y="8186006"/>
                </a:lnTo>
                <a:lnTo>
                  <a:pt x="22539048" y="8186006"/>
                </a:lnTo>
                <a:lnTo>
                  <a:pt x="2253904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5"/>
          <p:cNvSpPr/>
          <p:nvPr/>
        </p:nvSpPr>
        <p:spPr>
          <a:xfrm>
            <a:off x="1009650" y="304800"/>
            <a:ext cx="1638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Trazabilidad Scrum++ y Backlog</a:t>
            </a:r>
            <a:endParaRPr b="1" i="0" sz="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2542670" y="1453567"/>
            <a:ext cx="5139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90"/>
              </a:spcAft>
              <a:buClr>
                <a:srgbClr val="000000"/>
              </a:buClr>
              <a:buSzPts val="2076"/>
              <a:buFont typeface="Arial"/>
              <a:buNone/>
            </a:pPr>
            <a:r>
              <a:t/>
            </a:r>
            <a:endParaRPr b="0" i="0" sz="2076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42175" y="382700"/>
            <a:ext cx="735300" cy="734400"/>
          </a:xfrm>
          <a:prstGeom prst="ellipse">
            <a:avLst/>
          </a:prstGeom>
          <a:solidFill>
            <a:srgbClr val="88888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13</a:t>
            </a:r>
            <a:endParaRPr b="0" i="0" sz="24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261" name="Google Shape;2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0425" y="1117100"/>
            <a:ext cx="15504901" cy="888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7EE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37cf9e0562472df_1_0"/>
          <p:cNvSpPr/>
          <p:nvPr/>
        </p:nvSpPr>
        <p:spPr>
          <a:xfrm rot="-2322274">
            <a:off x="-5350034" y="823171"/>
            <a:ext cx="32311660" cy="8158694"/>
          </a:xfrm>
          <a:custGeom>
            <a:rect b="b" l="l" r="r" t="t"/>
            <a:pathLst>
              <a:path extrusionOk="0" h="8162674" w="32327423">
                <a:moveTo>
                  <a:pt x="0" y="0"/>
                </a:moveTo>
                <a:lnTo>
                  <a:pt x="32327423" y="0"/>
                </a:lnTo>
                <a:lnTo>
                  <a:pt x="32327423" y="8162675"/>
                </a:lnTo>
                <a:lnTo>
                  <a:pt x="0" y="8162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h537cf9e0562472df_1_0"/>
          <p:cNvSpPr/>
          <p:nvPr/>
        </p:nvSpPr>
        <p:spPr>
          <a:xfrm>
            <a:off x="1123600" y="2305625"/>
            <a:ext cx="109722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SISTEMA DE GESTIÓN PARA</a:t>
            </a:r>
            <a:endParaRPr b="0" i="0" sz="6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  <a:p>
            <a:pPr indent="0" lvl="0" marL="0" marR="0" rtl="0" algn="l">
              <a:lnSpc>
                <a:spcPct val="108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MINIMARKET Y PANADERÍA HUÁSCAR</a:t>
            </a:r>
            <a:endParaRPr b="0" i="0" sz="6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69" name="Google Shape;269;h537cf9e0562472df_1_0"/>
          <p:cNvSpPr/>
          <p:nvPr/>
        </p:nvSpPr>
        <p:spPr>
          <a:xfrm>
            <a:off x="1123600" y="5580723"/>
            <a:ext cx="62475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606060"/>
                </a:solidFill>
                <a:latin typeface="DM Sans"/>
                <a:ea typeface="DM Sans"/>
                <a:cs typeface="DM Sans"/>
                <a:sym typeface="DM Sans"/>
              </a:rPr>
              <a:t>Integrantes</a:t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Vicente Aravena Santa María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Clemente Carreño Becerra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Benjamín Huerta Mallea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Bastián Ibañez Martínez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Joao Morales Zavaleta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Renato Navarro Monje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Tomás Núñez Montagna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606060"/>
                </a:solidFill>
                <a:latin typeface="DM Sans"/>
                <a:ea typeface="DM Sans"/>
                <a:cs typeface="DM Sans"/>
                <a:sym typeface="DM Sans"/>
              </a:rPr>
              <a:t>Profesor</a:t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Paulo Quinsacara Jofré</a:t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0" name="Google Shape;270;h537cf9e0562472df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3200" y="3429000"/>
            <a:ext cx="8684800" cy="6513600"/>
          </a:xfrm>
          <a:prstGeom prst="rect">
            <a:avLst/>
          </a:prstGeom>
          <a:noFill/>
          <a:ln>
            <a:noFill/>
          </a:ln>
          <a:effectLst>
            <a:outerShdw blurRad="757238" rotWithShape="0" algn="bl" dir="5400000" dist="352425">
              <a:srgbClr val="000000">
                <a:alpha val="38820"/>
              </a:srgbClr>
            </a:outerShdw>
          </a:effectLst>
        </p:spPr>
      </p:pic>
      <p:pic>
        <p:nvPicPr>
          <p:cNvPr id="271" name="Google Shape;271;h537cf9e0562472df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425" y="189175"/>
            <a:ext cx="4615199" cy="154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h537cf9e0562472df_1_0"/>
          <p:cNvSpPr/>
          <p:nvPr/>
        </p:nvSpPr>
        <p:spPr>
          <a:xfrm>
            <a:off x="1052975" y="1747700"/>
            <a:ext cx="1115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Grupo 6:</a:t>
            </a:r>
            <a:endParaRPr b="1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h537cf9e0562472df_1_0"/>
          <p:cNvSpPr/>
          <p:nvPr/>
        </p:nvSpPr>
        <p:spPr>
          <a:xfrm>
            <a:off x="5739225" y="621325"/>
            <a:ext cx="9666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INCREMENTO 3</a:t>
            </a:r>
            <a:endParaRPr b="0" i="0" sz="5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